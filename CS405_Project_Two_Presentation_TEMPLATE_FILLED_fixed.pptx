
<file path=[Content_Types].xml><?xml version="1.0" encoding="utf-8"?>
<Types xmlns="http://schemas.openxmlformats.org/package/2006/content-types">
  <Default Extension="fntdata" ContentType="application/x-fontdata"/>
  <Default Extension="m4a" ContentType="audi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notesSlides/notesSlide3.xml" ContentType="application/vnd.openxmlformats-officedocument.presentationml.notesSlide+xml"/>
  <Override PartName="/ppt/tags/tag5.xml" ContentType="application/vnd.openxmlformats-officedocument.presentationml.tags+xml"/>
  <Override PartName="/ppt/notesSlides/notesSlide4.xml" ContentType="application/vnd.openxmlformats-officedocument.presentationml.notesSlide+xml"/>
  <Override PartName="/ppt/tags/tag6.xml" ContentType="application/vnd.openxmlformats-officedocument.presentationml.tags+xml"/>
  <Override PartName="/ppt/notesSlides/notesSlide5.xml" ContentType="application/vnd.openxmlformats-officedocument.presentationml.notesSlide+xml"/>
  <Override PartName="/ppt/tags/tag7.xml" ContentType="application/vnd.openxmlformats-officedocument.presentationml.tags+xml"/>
  <Override PartName="/ppt/notesSlides/notesSlide6.xml" ContentType="application/vnd.openxmlformats-officedocument.presentationml.notesSlide+xml"/>
  <Override PartName="/ppt/tags/tag8.xml" ContentType="application/vnd.openxmlformats-officedocument.presentationml.tags+xml"/>
  <Override PartName="/ppt/notesSlides/notesSlide7.xml" ContentType="application/vnd.openxmlformats-officedocument.presentationml.notesSlide+xml"/>
  <Override PartName="/ppt/tags/tag9.xml" ContentType="application/vnd.openxmlformats-officedocument.presentationml.tags+xml"/>
  <Override PartName="/ppt/notesSlides/notesSlide8.xml" ContentType="application/vnd.openxmlformats-officedocument.presentationml.notesSlide+xml"/>
  <Override PartName="/ppt/tags/tag10.xml" ContentType="application/vnd.openxmlformats-officedocument.presentationml.tags+xml"/>
  <Override PartName="/ppt/notesSlides/notesSlide9.xml" ContentType="application/vnd.openxmlformats-officedocument.presentationml.notesSlide+xml"/>
  <Override PartName="/ppt/tags/tag11.xml" ContentType="application/vnd.openxmlformats-officedocument.presentationml.tags+xml"/>
  <Override PartName="/ppt/notesSlides/notesSlide10.xml" ContentType="application/vnd.openxmlformats-officedocument.presentationml.notesSlide+xml"/>
  <Override PartName="/ppt/tags/tag12.xml" ContentType="application/vnd.openxmlformats-officedocument.presentationml.tags+xml"/>
  <Override PartName="/ppt/notesSlides/notesSlide11.xml" ContentType="application/vnd.openxmlformats-officedocument.presentationml.notesSlide+xml"/>
  <Override PartName="/ppt/tags/tag13.xml" ContentType="application/vnd.openxmlformats-officedocument.presentationml.tags+xml"/>
  <Override PartName="/ppt/notesSlides/notesSlide12.xml" ContentType="application/vnd.openxmlformats-officedocument.presentationml.notesSlide+xml"/>
  <Override PartName="/ppt/tags/tag14.xml" ContentType="application/vnd.openxmlformats-officedocument.presentationml.tags+xml"/>
  <Override PartName="/ppt/notesSlides/notesSlide13.xml" ContentType="application/vnd.openxmlformats-officedocument.presentationml.notesSlide+xml"/>
  <Override PartName="/ppt/tags/tag15.xml" ContentType="application/vnd.openxmlformats-officedocument.presentationml.tags+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4"/>
  </p:sldMasterIdLst>
  <p:notesMasterIdLst>
    <p:notesMasterId r:id="rId23"/>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Lst>
  <p:sldSz cx="12192000" cy="6858000"/>
  <p:notesSz cx="6858000" cy="9144000"/>
  <p:embeddedFontLst>
    <p:embeddedFont>
      <p:font typeface="Cambria" panose="02040503050406030204" pitchFamily="18" charset="0"/>
      <p:regular r:id="rId24"/>
      <p:bold r:id="rId25"/>
      <p:italic r:id="rId26"/>
      <p:boldItalic r:id="rId27"/>
    </p:embeddedFont>
    <p:embeddedFont>
      <p:font typeface="Century Gothic" panose="020B0502020202020204" pitchFamily="34" charset="0"/>
      <p:regular r:id="rId28"/>
      <p:bold r:id="rId29"/>
      <p:italic r:id="rId30"/>
      <p:boldItalic r:id="rId31"/>
    </p:embeddedFont>
  </p:embeddedFontLst>
  <p:custDataLst>
    <p:tags r:id="rId32"/>
  </p:custData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33" roundtripDataSignature="AMtx7mhlYlCtF+airiOZksSy3UV5ad0gh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802198C4-3087-4945-87E3-76CBB3509B7E}">
  <a:tblStyle styleId="{802198C4-3087-4945-87E3-76CBB3509B7E}" styleName="Table_0">
    <a:wholeTbl>
      <a:tcTxStyle b="off" i="off">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77329"/>
  </p:normalViewPr>
  <p:slideViewPr>
    <p:cSldViewPr snapToGrid="0">
      <p:cViewPr varScale="1">
        <p:scale>
          <a:sx n="97" d="100"/>
          <a:sy n="97" d="100"/>
        </p:scale>
        <p:origin x="1704" y="184"/>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font" Target="fonts/font3.fntdata"/><Relationship Id="rId21" Type="http://schemas.openxmlformats.org/officeDocument/2006/relationships/slide" Target="slides/slide17.xml"/><Relationship Id="rId34"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font" Target="fonts/font2.fntdata"/><Relationship Id="rId33" Type="http://customschemas.google.com/relationships/presentationmetadata" Target="metadata"/><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font" Target="fonts/font6.fntdata"/><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font" Target="fonts/font1.fntdata"/><Relationship Id="rId32" Type="http://schemas.openxmlformats.org/officeDocument/2006/relationships/tags" Target="tags/tag1.xml"/><Relationship Id="rId37"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notesMaster" Target="notesMasters/notesMaster1.xml"/><Relationship Id="rId28" Type="http://schemas.openxmlformats.org/officeDocument/2006/relationships/font" Target="fonts/font5.fntdata"/><Relationship Id="rId36"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font" Target="fonts/font8.fntdata"/><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font" Target="fonts/font4.fntdata"/><Relationship Id="rId30" Type="http://schemas.openxmlformats.org/officeDocument/2006/relationships/font" Target="fonts/font7.fntdata"/><Relationship Id="rId35" Type="http://schemas.openxmlformats.org/officeDocument/2006/relationships/viewProps" Target="viewProps.xml"/><Relationship Id="rId8" Type="http://schemas.openxmlformats.org/officeDocument/2006/relationships/slide" Target="slides/slide4.xml"/><Relationship Id="rId3" Type="http://schemas.openxmlformats.org/officeDocument/2006/relationships/customXml" Target="../customXml/item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extLst>
      <p:ext uri="{BB962C8B-B14F-4D97-AF65-F5344CB8AC3E}">
        <p14:creationId xmlns:p14="http://schemas.microsoft.com/office/powerpoint/2010/main" val="2639196537"/>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b="0" i="0" u="none" strike="noStrike" cap="none" dirty="0">
                <a:solidFill>
                  <a:srgbClr val="000000"/>
                </a:solidFill>
                <a:effectLst/>
                <a:latin typeface="Arial"/>
                <a:ea typeface="Arial"/>
                <a:cs typeface="Arial"/>
                <a:sym typeface="Arial"/>
              </a:rPr>
              <a:t>Hello everyone. Today I’m presenting our Green Pace Security Policy for CS 405 Project Two. The purpose of this presentation is to make our secure coding and architecture expectations clear, repeatable, and easy to follow as our team grows.</a:t>
            </a:r>
          </a:p>
          <a:p>
            <a:pPr marL="0" lvl="0" indent="0" algn="l" rtl="0">
              <a:lnSpc>
                <a:spcPct val="100000"/>
              </a:lnSpc>
              <a:spcBef>
                <a:spcPts val="0"/>
              </a:spcBef>
              <a:spcAft>
                <a:spcPts val="0"/>
              </a:spcAft>
              <a:buSzPts val="1100"/>
              <a:buNone/>
            </a:pPr>
            <a:endParaRPr dirty="0"/>
          </a:p>
        </p:txBody>
      </p:sp>
      <p:sp>
        <p:nvSpPr>
          <p:cNvPr id="142" name="Google Shape;14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b="0" i="0" u="none" strike="noStrike" cap="none" dirty="0">
                <a:solidFill>
                  <a:srgbClr val="000000"/>
                </a:solidFill>
                <a:effectLst/>
                <a:latin typeface="Arial"/>
                <a:ea typeface="Arial"/>
                <a:cs typeface="Arial"/>
                <a:sym typeface="Arial"/>
              </a:rPr>
              <a:t>This policy exists because security can’t depend on who is writing the code that day. We needed a standardized guide that supports defense-in-depth—multiple layers of protection across design, coding, testing, and operations. We also assume vulnerability: bugs happen, so we reduce attack surface and limit impact when something goes wrong.</a:t>
            </a:r>
          </a:p>
          <a:p>
            <a:pPr marL="0" lvl="0" indent="0" algn="l" rtl="0">
              <a:lnSpc>
                <a:spcPct val="100000"/>
              </a:lnSpc>
              <a:spcBef>
                <a:spcPts val="0"/>
              </a:spcBef>
              <a:spcAft>
                <a:spcPts val="0"/>
              </a:spcAft>
              <a:buSzPts val="1100"/>
              <a:buNone/>
            </a:pPr>
            <a:endParaRPr dirty="0"/>
          </a:p>
        </p:txBody>
      </p:sp>
      <p:sp>
        <p:nvSpPr>
          <p:cNvPr id="149" name="Google Shape;149;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b="0" i="0" u="none" strike="noStrike" cap="none" dirty="0">
                <a:solidFill>
                  <a:srgbClr val="000000"/>
                </a:solidFill>
                <a:effectLst/>
                <a:latin typeface="Arial"/>
                <a:ea typeface="Arial"/>
                <a:cs typeface="Arial"/>
                <a:sym typeface="Arial"/>
              </a:rPr>
              <a:t>This threats matrix summarizes the main coding risks we identified and how we rank them by likelihood and impact. High-priority items include input validation, memory safety, and access control because those issues tend to cause the most damage and are common targets. Medium items are still important, but they typically have either lower likelihood or lower impact. Low items are not ignored—they are scheduled and monitored so they don’t become future high-risk issues.</a:t>
            </a:r>
          </a:p>
          <a:p>
            <a:pPr marL="0" lvl="0" indent="0" algn="l" rtl="0">
              <a:lnSpc>
                <a:spcPct val="100000"/>
              </a:lnSpc>
              <a:spcBef>
                <a:spcPts val="0"/>
              </a:spcBef>
              <a:spcAft>
                <a:spcPts val="0"/>
              </a:spcAft>
              <a:buSzPts val="1100"/>
              <a:buNone/>
            </a:pPr>
            <a:endParaRPr dirty="0"/>
          </a:p>
        </p:txBody>
      </p:sp>
      <p:sp>
        <p:nvSpPr>
          <p:cNvPr id="157" name="Google Shape;157;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Google Shape;164;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158750" indent="0">
              <a:buNone/>
            </a:pPr>
            <a:r>
              <a:rPr lang="en-US" sz="1100" b="0" i="0" u="none" strike="noStrike" cap="none" dirty="0">
                <a:solidFill>
                  <a:srgbClr val="000000"/>
                </a:solidFill>
                <a:effectLst/>
                <a:latin typeface="Arial"/>
                <a:ea typeface="Arial"/>
                <a:cs typeface="Arial"/>
                <a:sym typeface="Arial"/>
              </a:rPr>
              <a:t>Here are the 10 coding standards listed in priority order. I prioritized them based on impact, likelihood, and the cost of fixing them late. The top items focus on validation, memory safety, and access control because they prevent major failures like crashes, data exposure, and privilege escalation. The examples on the left show how these standards apply to everyday coding tasks like handling user input, accessing arrays, and enforcing permissions.</a:t>
            </a:r>
          </a:p>
        </p:txBody>
      </p:sp>
      <p:sp>
        <p:nvSpPr>
          <p:cNvPr id="165" name="Google Shape;165;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b="0" i="0" u="none" strike="noStrike" cap="none" dirty="0">
                <a:solidFill>
                  <a:srgbClr val="000000"/>
                </a:solidFill>
                <a:effectLst/>
                <a:latin typeface="Arial"/>
                <a:ea typeface="Arial"/>
                <a:cs typeface="Arial"/>
                <a:sym typeface="Arial"/>
              </a:rPr>
              <a:t>These 10 security principles are the ‘why’ behind the policy. The coding standards are the ‘how.’ For example, least privilege and complete mediation show up through consistent authorization checks. Defense-in-depth is supported by validation, memory safety controls, and automation. This mapping keeps our decisions consistent during implementation and code review.</a:t>
            </a:r>
          </a:p>
          <a:p>
            <a:pPr marL="0" lvl="0" indent="0" algn="l" rtl="0">
              <a:lnSpc>
                <a:spcPct val="100000"/>
              </a:lnSpc>
              <a:spcBef>
                <a:spcPts val="0"/>
              </a:spcBef>
              <a:spcAft>
                <a:spcPts val="0"/>
              </a:spcAft>
              <a:buSzPts val="1100"/>
              <a:buNone/>
            </a:pPr>
            <a:endParaRPr dirty="0"/>
          </a:p>
        </p:txBody>
      </p:sp>
      <p:sp>
        <p:nvSpPr>
          <p:cNvPr id="172" name="Google Shape;172;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158750" indent="0">
              <a:buNone/>
            </a:pPr>
            <a:r>
              <a:rPr lang="en-US" sz="1100" b="0" i="0" u="none" strike="noStrike" cap="none" dirty="0">
                <a:solidFill>
                  <a:srgbClr val="000000"/>
                </a:solidFill>
                <a:effectLst/>
                <a:latin typeface="Arial"/>
                <a:ea typeface="Arial"/>
                <a:cs typeface="Arial"/>
                <a:sym typeface="Arial"/>
              </a:rPr>
              <a:t>Our encryption strategy covers data in flight, at rest, and in use. In flight, we use TLS for client and service communication and avoid weak protocols. At rest, we encrypt sensitive data and manage keys with rotation and restricted access. In use, we protect secrets in memory where possible and avoid logging sensitive values. The goal is to reduce exposure even if someone intercepts traffic or gains access to storage.</a:t>
            </a:r>
          </a:p>
          <a:p>
            <a:pPr marL="0" lvl="0" indent="0" algn="l" rtl="0">
              <a:lnSpc>
                <a:spcPct val="100000"/>
              </a:lnSpc>
              <a:spcBef>
                <a:spcPts val="0"/>
              </a:spcBef>
              <a:spcAft>
                <a:spcPts val="0"/>
              </a:spcAft>
              <a:buSzPts val="1100"/>
              <a:buNone/>
            </a:pPr>
            <a:endParaRPr dirty="0"/>
          </a:p>
        </p:txBody>
      </p:sp>
      <p:sp>
        <p:nvSpPr>
          <p:cNvPr id="179" name="Google Shape;179;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p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b="0" i="0" u="none" strike="noStrike" cap="none" dirty="0">
                <a:solidFill>
                  <a:srgbClr val="000000"/>
                </a:solidFill>
                <a:effectLst/>
                <a:latin typeface="Arial"/>
                <a:ea typeface="Arial"/>
                <a:cs typeface="Arial"/>
                <a:sym typeface="Arial"/>
              </a:rPr>
              <a:t>The Triple-A framework means Authentication, Authorization, and Accounting. Authentication confirms identity, like passwords plus MFA. Authorization enforces what an identity can do using least privilege. Accounting means logging key events so actions can be traced during investigations. The main point is that all three work together: strong login without authorization checks still fails, and without accounting we can’t detect or respond effectively.</a:t>
            </a:r>
          </a:p>
          <a:p>
            <a:pPr marL="0" lvl="0" indent="0" algn="l" rtl="0">
              <a:lnSpc>
                <a:spcPct val="100000"/>
              </a:lnSpc>
              <a:spcBef>
                <a:spcPts val="0"/>
              </a:spcBef>
              <a:spcAft>
                <a:spcPts val="0"/>
              </a:spcAft>
              <a:buSzPts val="1100"/>
              <a:buNone/>
            </a:pPr>
            <a:endParaRPr dirty="0"/>
          </a:p>
        </p:txBody>
      </p:sp>
      <p:sp>
        <p:nvSpPr>
          <p:cNvPr id="186" name="Google Shape;186;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g9504e2950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3" name="Google Shape;193;g9504e29505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158750" indent="0">
              <a:buNone/>
            </a:pPr>
            <a:r>
              <a:rPr lang="en-US" sz="1100" b="0" i="0" u="none" strike="noStrike" cap="none" dirty="0">
                <a:solidFill>
                  <a:srgbClr val="000000"/>
                </a:solidFill>
                <a:effectLst/>
                <a:latin typeface="Arial"/>
                <a:ea typeface="Arial"/>
                <a:cs typeface="Arial"/>
                <a:sym typeface="Arial"/>
              </a:rPr>
              <a:t>This unit test checks that input is validated for length and range before it is used. The goal is to prevent injection-style issues, crashes from invalid formats, or unsafe copying into buffers. To take it further, I would add more boundary tests, include random malformed inputs, and run the same tests as part of CI on every pull request.</a:t>
            </a:r>
          </a:p>
          <a:p>
            <a:pPr marL="0" lvl="0" indent="0" algn="l" rtl="0">
              <a:lnSpc>
                <a:spcPct val="100000"/>
              </a:lnSpc>
              <a:spcBef>
                <a:spcPts val="0"/>
              </a:spcBef>
              <a:spcAft>
                <a:spcPts val="0"/>
              </a:spcAft>
              <a:buSzPts val="1100"/>
              <a:buNone/>
            </a:pPr>
            <a:endParaRPr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158750" indent="0">
              <a:buNone/>
            </a:pPr>
            <a:r>
              <a:rPr lang="en-US" sz="1100" b="0" i="0" u="none" strike="noStrike" cap="none" dirty="0">
                <a:solidFill>
                  <a:srgbClr val="000000"/>
                </a:solidFill>
                <a:effectLst/>
                <a:latin typeface="Arial"/>
                <a:ea typeface="Arial"/>
                <a:cs typeface="Arial"/>
                <a:sym typeface="Arial"/>
              </a:rPr>
              <a:t>This diagram shows where security tools live in the </a:t>
            </a:r>
            <a:r>
              <a:rPr lang="en-US" sz="1100" b="0" i="0" u="none" strike="noStrike" cap="none" dirty="0" err="1">
                <a:solidFill>
                  <a:srgbClr val="000000"/>
                </a:solidFill>
                <a:effectLst/>
                <a:latin typeface="Arial"/>
                <a:ea typeface="Arial"/>
                <a:cs typeface="Arial"/>
                <a:sym typeface="Arial"/>
              </a:rPr>
              <a:t>DevSecOps</a:t>
            </a:r>
            <a:r>
              <a:rPr lang="en-US" sz="1100" b="0" i="0" u="none" strike="noStrike" cap="none" dirty="0">
                <a:solidFill>
                  <a:srgbClr val="000000"/>
                </a:solidFill>
                <a:effectLst/>
                <a:latin typeface="Arial"/>
                <a:ea typeface="Arial"/>
                <a:cs typeface="Arial"/>
                <a:sym typeface="Arial"/>
              </a:rPr>
              <a:t> flow. We run basic checks pre-commit, then compiler warnings and static analysis during build, unit tests during test, dependency gates during packaging, and monitoring after deployment. The point is that security is not one step—it’s repeated at multiple stages to catch issues as early as possible.</a:t>
            </a:r>
          </a:p>
          <a:p>
            <a:pPr marL="171450" lvl="0" indent="-171450" algn="l" rtl="0">
              <a:lnSpc>
                <a:spcPct val="100000"/>
              </a:lnSpc>
              <a:spcBef>
                <a:spcPts val="0"/>
              </a:spcBef>
              <a:spcAft>
                <a:spcPts val="0"/>
              </a:spcAft>
              <a:buSzPts val="1100"/>
            </a:pPr>
            <a:endParaRPr dirty="0"/>
          </a:p>
        </p:txBody>
      </p:sp>
      <p:sp>
        <p:nvSpPr>
          <p:cNvPr id="200" name="Google Shape;20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5"/>
        <p:cNvGrpSpPr/>
        <p:nvPr/>
      </p:nvGrpSpPr>
      <p:grpSpPr>
        <a:xfrm>
          <a:off x="0" y="0"/>
          <a:ext cx="0" cy="0"/>
          <a:chOff x="0" y="0"/>
          <a:chExt cx="0" cy="0"/>
        </a:xfrm>
      </p:grpSpPr>
      <p:sp>
        <p:nvSpPr>
          <p:cNvPr id="206" name="Google Shape;206;p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158750" indent="0">
              <a:buNone/>
            </a:pPr>
            <a:r>
              <a:rPr lang="en-US" sz="1100" b="0" i="0" u="none" strike="noStrike" cap="none" dirty="0">
                <a:solidFill>
                  <a:srgbClr val="000000"/>
                </a:solidFill>
                <a:effectLst/>
                <a:latin typeface="Arial"/>
                <a:ea typeface="Arial"/>
                <a:cs typeface="Arial"/>
                <a:sym typeface="Arial"/>
              </a:rPr>
              <a:t>This is how we use external testing methods and automation to detect vulnerabilities early. Static analysis helps us catch unsafe patterns before runtime. Dynamic testing and fuzzing help us find crashes and edge cases. Unit tests lock in secure behavior so regressions don’t come back. On this slide I’ll insert screenshots from my coding exercises—like a static analysis warning or a test run—showing how automation flags the problem.</a:t>
            </a:r>
          </a:p>
          <a:p>
            <a:pPr marL="0" lvl="0" indent="0" algn="l" rtl="0">
              <a:lnSpc>
                <a:spcPct val="100000"/>
              </a:lnSpc>
              <a:spcBef>
                <a:spcPts val="0"/>
              </a:spcBef>
              <a:spcAft>
                <a:spcPts val="0"/>
              </a:spcAft>
              <a:buSzPts val="1100"/>
              <a:buNone/>
            </a:pPr>
            <a:endParaRPr dirty="0"/>
          </a:p>
        </p:txBody>
      </p:sp>
      <p:sp>
        <p:nvSpPr>
          <p:cNvPr id="207" name="Google Shape;207;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Google Shape;213;p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158750" indent="0">
              <a:buNone/>
            </a:pPr>
            <a:r>
              <a:rPr lang="en-US" sz="1100" b="0" i="0" u="none" strike="noStrike" cap="none" dirty="0">
                <a:solidFill>
                  <a:srgbClr val="000000"/>
                </a:solidFill>
                <a:effectLst/>
                <a:latin typeface="Arial"/>
                <a:ea typeface="Arial"/>
                <a:cs typeface="Arial"/>
                <a:sym typeface="Arial"/>
              </a:rPr>
              <a:t>On this slide I compare fixing issues now versus waiting. Fixing now reduces real risk and usually costs less because the context is fresh and the change is smaller. Waiting increases the chance that the vulnerability reaches production, and then the fix includes emergency work, incident response, and reputation impact.</a:t>
            </a:r>
          </a:p>
          <a:p>
            <a:pPr marL="158750" indent="0">
              <a:buNone/>
            </a:pPr>
            <a:r>
              <a:rPr lang="en-US" sz="1100" b="0" i="0" u="none" strike="noStrike" cap="none" dirty="0">
                <a:solidFill>
                  <a:srgbClr val="000000"/>
                </a:solidFill>
                <a:effectLst/>
                <a:latin typeface="Arial"/>
                <a:ea typeface="Arial"/>
                <a:cs typeface="Arial"/>
                <a:sym typeface="Arial"/>
              </a:rPr>
              <a:t>Here are examples of what we address first and why. High-impact items like memory safety, validation, and access control get priority because they can cause the most damage. Lower-priority items are still scheduled, but we sequence the work so we reduce the biggest risks early and keep the project manageable.</a:t>
            </a:r>
          </a:p>
        </p:txBody>
      </p:sp>
      <p:sp>
        <p:nvSpPr>
          <p:cNvPr id="214" name="Google Shape;214;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p1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158750" indent="0">
              <a:buNone/>
            </a:pPr>
            <a:r>
              <a:rPr lang="en-US" sz="1100" b="0" i="0" u="none" strike="noStrike" cap="none" dirty="0">
                <a:solidFill>
                  <a:srgbClr val="000000"/>
                </a:solidFill>
                <a:effectLst/>
                <a:latin typeface="Arial"/>
                <a:ea typeface="Arial"/>
                <a:cs typeface="Arial"/>
                <a:sym typeface="Arial"/>
              </a:rPr>
              <a:t>My gap analysis focuses on what still needs improvement moving forward. Common gaps include inconsistent enforcement, missing security checks in CI, weak logging, and unclear ownership of policy updates. My recommendations are to add measurable CI gates, improve documentation, and create a regular cadence for reviewing and updating the policy as threats evolve.</a:t>
            </a:r>
          </a:p>
          <a:p>
            <a:pPr marL="171450" lvl="0" indent="-171450" algn="l" rtl="0">
              <a:lnSpc>
                <a:spcPct val="100000"/>
              </a:lnSpc>
              <a:spcBef>
                <a:spcPts val="0"/>
              </a:spcBef>
              <a:spcAft>
                <a:spcPts val="0"/>
              </a:spcAft>
              <a:buSzPts val="1100"/>
            </a:pPr>
            <a:endParaRPr dirty="0"/>
          </a:p>
        </p:txBody>
      </p:sp>
      <p:sp>
        <p:nvSpPr>
          <p:cNvPr id="221" name="Google Shape;221;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
        <p:cNvGrpSpPr/>
        <p:nvPr/>
      </p:nvGrpSpPr>
      <p:grpSpPr>
        <a:xfrm>
          <a:off x="0" y="0"/>
          <a:ext cx="0" cy="0"/>
          <a:chOff x="0" y="0"/>
          <a:chExt cx="0" cy="0"/>
        </a:xfrm>
      </p:grpSpPr>
      <p:sp>
        <p:nvSpPr>
          <p:cNvPr id="227" name="Google Shape;227;p1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158750" indent="0">
              <a:buNone/>
            </a:pPr>
            <a:r>
              <a:rPr lang="en-US" sz="1100" b="0" i="0" u="none" strike="noStrike" cap="none" dirty="0">
                <a:solidFill>
                  <a:srgbClr val="000000"/>
                </a:solidFill>
                <a:effectLst/>
                <a:latin typeface="Arial"/>
                <a:ea typeface="Arial"/>
                <a:cs typeface="Arial"/>
                <a:sym typeface="Arial"/>
              </a:rPr>
              <a:t>To conclude, this policy standardizes what we already try to do in practice: build secure systems by default. The next steps are to keep the standards visible in code reviews, keep security checks automated, and treat policy updates as part of normal development—not a one-time document.</a:t>
            </a:r>
          </a:p>
          <a:p>
            <a:pPr marL="0" lvl="0" indent="0" algn="l" rtl="0">
              <a:lnSpc>
                <a:spcPct val="100000"/>
              </a:lnSpc>
              <a:spcBef>
                <a:spcPts val="0"/>
              </a:spcBef>
              <a:spcAft>
                <a:spcPts val="0"/>
              </a:spcAft>
              <a:buSzPts val="1100"/>
              <a:buNone/>
            </a:pPr>
            <a:endParaRPr dirty="0"/>
          </a:p>
        </p:txBody>
      </p:sp>
      <p:sp>
        <p:nvSpPr>
          <p:cNvPr id="228" name="Google Shape;228;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p1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158750" indent="0">
              <a:buNone/>
            </a:pPr>
            <a:r>
              <a:rPr lang="en-US" sz="1100" b="0" i="0" u="none" strike="noStrike" cap="none" dirty="0">
                <a:solidFill>
                  <a:srgbClr val="000000"/>
                </a:solidFill>
                <a:effectLst/>
                <a:latin typeface="Arial"/>
                <a:ea typeface="Arial"/>
                <a:cs typeface="Arial"/>
                <a:sym typeface="Arial"/>
              </a:rPr>
              <a:t>These are the sources I used to support the policy design and rationale. I’ll keep the references updated as the policy evolves.</a:t>
            </a:r>
          </a:p>
          <a:p>
            <a:pPr marL="0" lvl="0" indent="0" algn="l" rtl="0">
              <a:lnSpc>
                <a:spcPct val="100000"/>
              </a:lnSpc>
              <a:spcBef>
                <a:spcPts val="0"/>
              </a:spcBef>
              <a:spcAft>
                <a:spcPts val="0"/>
              </a:spcAft>
              <a:buSzPts val="1100"/>
              <a:buNone/>
            </a:pPr>
            <a:endParaRPr dirty="0"/>
          </a:p>
        </p:txBody>
      </p:sp>
      <p:sp>
        <p:nvSpPr>
          <p:cNvPr id="235" name="Google Shape;235;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58750" indent="0">
              <a:buNone/>
            </a:pPr>
            <a:r>
              <a:rPr lang="en-US" sz="1100" b="0" i="0" u="none" strike="noStrike" cap="none" dirty="0">
                <a:solidFill>
                  <a:srgbClr val="000000"/>
                </a:solidFill>
                <a:effectLst/>
                <a:latin typeface="Arial"/>
                <a:ea typeface="Arial"/>
                <a:cs typeface="Arial"/>
                <a:sym typeface="Arial"/>
              </a:rPr>
              <a:t>This unit test focuses on bounds checking for arrays, strings, and buffers. The test should prove that the code refuses inputs that exceed buffer size and that it uses safe patterns when copying or indexing. To take it further, we can run sanitizers in test builds and expand test cases to include off-by-one boundaries and extreme sizes.</a:t>
            </a:r>
          </a:p>
          <a:p>
            <a:pPr marL="158750" indent="0">
              <a:buNone/>
            </a:pPr>
            <a:endParaRPr lang="en-US" dirty="0"/>
          </a:p>
        </p:txBody>
      </p:sp>
    </p:spTree>
    <p:extLst>
      <p:ext uri="{BB962C8B-B14F-4D97-AF65-F5344CB8AC3E}">
        <p14:creationId xmlns:p14="http://schemas.microsoft.com/office/powerpoint/2010/main" val="414583928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58750" indent="0">
              <a:buNone/>
            </a:pPr>
            <a:r>
              <a:rPr lang="en-US" sz="1100" b="0" i="0" u="none" strike="noStrike" cap="none" dirty="0">
                <a:solidFill>
                  <a:srgbClr val="000000"/>
                </a:solidFill>
                <a:effectLst/>
                <a:latin typeface="Arial"/>
                <a:ea typeface="Arial"/>
                <a:cs typeface="Arial"/>
                <a:sym typeface="Arial"/>
              </a:rPr>
              <a:t>This unit test verifies that sensitive actions require the correct permissions every time. It checks that unauthorized users are blocked and that privileged operations can’t be triggered just by manipulating inputs. To take it further, we can add tests for role changes, session expiration, and negative tests where the UI says no but the API must also enforce the rule.</a:t>
            </a:r>
          </a:p>
          <a:p>
            <a:pPr marL="158750" indent="0">
              <a:buNone/>
            </a:pPr>
            <a:r>
              <a:rPr lang="en-US" sz="1100" b="0" i="0" u="none" strike="noStrike" cap="none" dirty="0">
                <a:solidFill>
                  <a:srgbClr val="000000"/>
                </a:solidFill>
                <a:effectLst/>
                <a:latin typeface="Arial"/>
                <a:ea typeface="Arial"/>
                <a:cs typeface="Arial"/>
                <a:sym typeface="Arial"/>
              </a:rPr>
              <a:t> </a:t>
            </a:r>
          </a:p>
          <a:p>
            <a:endParaRPr lang="en-US" dirty="0"/>
          </a:p>
        </p:txBody>
      </p:sp>
    </p:spTree>
    <p:extLst>
      <p:ext uri="{BB962C8B-B14F-4D97-AF65-F5344CB8AC3E}">
        <p14:creationId xmlns:p14="http://schemas.microsoft.com/office/powerpoint/2010/main" val="305512052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58750" indent="0">
              <a:buNone/>
            </a:pPr>
            <a:r>
              <a:rPr lang="en-US" sz="1100" b="0" i="0" u="none" strike="noStrike" cap="none" dirty="0">
                <a:solidFill>
                  <a:srgbClr val="000000"/>
                </a:solidFill>
                <a:effectLst/>
                <a:latin typeface="Arial"/>
                <a:ea typeface="Arial"/>
                <a:cs typeface="Arial"/>
                <a:sym typeface="Arial"/>
              </a:rPr>
              <a:t>This unit test checks that errors fail securely and don’t leak sensitive details. It also checks that logs are safe: they should contain what we need for troubleshooting and auditing, but not secrets, tokens, or personal data. To take it further, we can test log redaction and verify that the application returns generic error messages while keeping detailed info in internal logs.</a:t>
            </a:r>
          </a:p>
          <a:p>
            <a:pPr marL="158750" indent="0">
              <a:buNone/>
            </a:pPr>
            <a:endParaRPr lang="en-US" dirty="0"/>
          </a:p>
        </p:txBody>
      </p:sp>
    </p:spTree>
    <p:extLst>
      <p:ext uri="{BB962C8B-B14F-4D97-AF65-F5344CB8AC3E}">
        <p14:creationId xmlns:p14="http://schemas.microsoft.com/office/powerpoint/2010/main" val="177210641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58750" indent="0">
              <a:buNone/>
            </a:pPr>
            <a:r>
              <a:rPr lang="en-US" sz="1100" b="0" i="0" u="none" strike="noStrike" cap="none" dirty="0">
                <a:solidFill>
                  <a:srgbClr val="000000"/>
                </a:solidFill>
                <a:effectLst/>
                <a:latin typeface="Arial"/>
                <a:ea typeface="Arial"/>
                <a:cs typeface="Arial"/>
                <a:sym typeface="Arial"/>
              </a:rPr>
              <a:t>This unit test and supporting checks ensure we don’t run with insecure defaults. Examples include disallowing debug mode in production builds, confirming TLS settings, or blocking known-bad dependency versions. To take it further, we can automate dependency checks and policy gates so insecure configurations fail the build.</a:t>
            </a:r>
          </a:p>
          <a:p>
            <a:pPr marL="158750" indent="0">
              <a:buNone/>
            </a:pPr>
            <a:endParaRPr lang="en-US" sz="1100" b="0" i="0" u="none" strike="noStrike" cap="none" dirty="0">
              <a:solidFill>
                <a:srgbClr val="000000"/>
              </a:solidFill>
              <a:effectLst/>
              <a:latin typeface="Arial"/>
              <a:ea typeface="Arial"/>
              <a:cs typeface="Arial"/>
              <a:sym typeface="Arial"/>
            </a:endParaRPr>
          </a:p>
          <a:p>
            <a:pPr marL="158750" indent="0">
              <a:buNone/>
            </a:pPr>
            <a:r>
              <a:rPr lang="en-US" sz="1100" b="0" i="0" u="none" strike="noStrike" cap="none" dirty="0">
                <a:solidFill>
                  <a:srgbClr val="000000"/>
                </a:solidFill>
                <a:effectLst/>
                <a:latin typeface="Arial"/>
                <a:ea typeface="Arial"/>
                <a:cs typeface="Arial"/>
                <a:sym typeface="Arial"/>
              </a:rPr>
              <a:t>Extra detail to mention while showing this slide: examples of external tools include compiler warnings (-Wall/-</a:t>
            </a:r>
            <a:r>
              <a:rPr lang="en-US" sz="1100" b="0" i="0" u="none" strike="noStrike" cap="none" dirty="0" err="1">
                <a:solidFill>
                  <a:srgbClr val="000000"/>
                </a:solidFill>
                <a:effectLst/>
                <a:latin typeface="Arial"/>
                <a:ea typeface="Arial"/>
                <a:cs typeface="Arial"/>
                <a:sym typeface="Arial"/>
              </a:rPr>
              <a:t>Wextra</a:t>
            </a:r>
            <a:r>
              <a:rPr lang="en-US" sz="1100" b="0" i="0" u="none" strike="noStrike" cap="none" dirty="0">
                <a:solidFill>
                  <a:srgbClr val="000000"/>
                </a:solidFill>
                <a:effectLst/>
                <a:latin typeface="Arial"/>
                <a:ea typeface="Arial"/>
                <a:cs typeface="Arial"/>
                <a:sym typeface="Arial"/>
              </a:rPr>
              <a:t>), static analyzers (</a:t>
            </a:r>
            <a:r>
              <a:rPr lang="en-US" sz="1100" b="0" i="0" u="none" strike="noStrike" cap="none" dirty="0" err="1">
                <a:solidFill>
                  <a:srgbClr val="000000"/>
                </a:solidFill>
                <a:effectLst/>
                <a:latin typeface="Arial"/>
                <a:ea typeface="Arial"/>
                <a:cs typeface="Arial"/>
                <a:sym typeface="Arial"/>
              </a:rPr>
              <a:t>cppcheck</a:t>
            </a:r>
            <a:r>
              <a:rPr lang="en-US" sz="1100" b="0" i="0" u="none" strike="noStrike" cap="none" dirty="0">
                <a:solidFill>
                  <a:srgbClr val="000000"/>
                </a:solidFill>
                <a:effectLst/>
                <a:latin typeface="Arial"/>
                <a:ea typeface="Arial"/>
                <a:cs typeface="Arial"/>
                <a:sym typeface="Arial"/>
              </a:rPr>
              <a:t>/clang-tidy), sanitizers (</a:t>
            </a:r>
            <a:r>
              <a:rPr lang="en-US" sz="1100" b="0" i="0" u="none" strike="noStrike" cap="none" dirty="0" err="1">
                <a:solidFill>
                  <a:srgbClr val="000000"/>
                </a:solidFill>
                <a:effectLst/>
                <a:latin typeface="Arial"/>
                <a:ea typeface="Arial"/>
                <a:cs typeface="Arial"/>
                <a:sym typeface="Arial"/>
              </a:rPr>
              <a:t>ASan</a:t>
            </a:r>
            <a:r>
              <a:rPr lang="en-US" sz="1100" b="0" i="0" u="none" strike="noStrike" cap="none" dirty="0">
                <a:solidFill>
                  <a:srgbClr val="000000"/>
                </a:solidFill>
                <a:effectLst/>
                <a:latin typeface="Arial"/>
                <a:ea typeface="Arial"/>
                <a:cs typeface="Arial"/>
                <a:sym typeface="Arial"/>
              </a:rPr>
              <a:t>/</a:t>
            </a:r>
            <a:r>
              <a:rPr lang="en-US" sz="1100" b="0" i="0" u="none" strike="noStrike" cap="none" dirty="0" err="1">
                <a:solidFill>
                  <a:srgbClr val="000000"/>
                </a:solidFill>
                <a:effectLst/>
                <a:latin typeface="Arial"/>
                <a:ea typeface="Arial"/>
                <a:cs typeface="Arial"/>
                <a:sym typeface="Arial"/>
              </a:rPr>
              <a:t>UBSan</a:t>
            </a:r>
            <a:r>
              <a:rPr lang="en-US" sz="1100" b="0" i="0" u="none" strike="noStrike" cap="none" dirty="0">
                <a:solidFill>
                  <a:srgbClr val="000000"/>
                </a:solidFill>
                <a:effectLst/>
                <a:latin typeface="Arial"/>
                <a:ea typeface="Arial"/>
                <a:cs typeface="Arial"/>
                <a:sym typeface="Arial"/>
              </a:rPr>
              <a:t>), dependency scanning, and a CI pipeline that blocks merges when tests or scans fail.</a:t>
            </a:r>
          </a:p>
          <a:p>
            <a:pPr marL="15875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en-US" sz="1100" b="0" i="0" u="none" strike="noStrike" cap="none" dirty="0">
              <a:solidFill>
                <a:srgbClr val="000000"/>
              </a:solidFill>
              <a:effectLst/>
              <a:latin typeface="Arial"/>
              <a:ea typeface="Arial"/>
              <a:cs typeface="Arial"/>
              <a:sym typeface="Arial"/>
            </a:endParaRPr>
          </a:p>
        </p:txBody>
      </p:sp>
    </p:spTree>
    <p:extLst>
      <p:ext uri="{BB962C8B-B14F-4D97-AF65-F5344CB8AC3E}">
        <p14:creationId xmlns:p14="http://schemas.microsoft.com/office/powerpoint/2010/main" val="343720527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2"/>
        <p:cNvGrpSpPr/>
        <p:nvPr/>
      </p:nvGrpSpPr>
      <p:grpSpPr>
        <a:xfrm>
          <a:off x="0" y="0"/>
          <a:ext cx="0" cy="0"/>
          <a:chOff x="0" y="0"/>
          <a:chExt cx="0" cy="0"/>
        </a:xfrm>
      </p:grpSpPr>
      <p:pic>
        <p:nvPicPr>
          <p:cNvPr id="13" name="Google Shape;13;p16" descr="C0-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14" name="Google Shape;14;p16"/>
          <p:cNvSpPr txBox="1">
            <a:spLocks noGrp="1"/>
          </p:cNvSpPr>
          <p:nvPr>
            <p:ph type="ctrTitle"/>
          </p:nvPr>
        </p:nvSpPr>
        <p:spPr>
          <a:xfrm>
            <a:off x="1371600" y="1803405"/>
            <a:ext cx="9448800" cy="1825096"/>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6000"/>
              <a:buFont typeface="Century Gothic"/>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 name="Google Shape;15;p16"/>
          <p:cNvSpPr txBox="1">
            <a:spLocks noGrp="1"/>
          </p:cNvSpPr>
          <p:nvPr>
            <p:ph type="subTitle" idx="1"/>
          </p:nvPr>
        </p:nvSpPr>
        <p:spPr>
          <a:xfrm>
            <a:off x="1371600" y="3632201"/>
            <a:ext cx="9448800" cy="685800"/>
          </a:xfrm>
          <a:prstGeom prst="rect">
            <a:avLst/>
          </a:prstGeom>
          <a:noFill/>
          <a:ln>
            <a:noFill/>
          </a:ln>
        </p:spPr>
        <p:txBody>
          <a:bodyPr spcFirstLastPara="1" wrap="square" lIns="91425" tIns="45700" rIns="91425" bIns="45700" anchor="t" anchorCtr="0">
            <a:normAutofit/>
          </a:bodyPr>
          <a:lstStyle>
            <a:lvl1pPr lvl="0" algn="l">
              <a:lnSpc>
                <a:spcPct val="90000"/>
              </a:lnSpc>
              <a:spcBef>
                <a:spcPts val="1000"/>
              </a:spcBef>
              <a:spcAft>
                <a:spcPts val="0"/>
              </a:spcAft>
              <a:buClr>
                <a:schemeClr val="lt1"/>
              </a:buClr>
              <a:buSzPts val="2000"/>
              <a:buNone/>
              <a:defRPr sz="2000"/>
            </a:lvl1pPr>
            <a:lvl2pPr lvl="1" algn="ctr">
              <a:lnSpc>
                <a:spcPct val="90000"/>
              </a:lnSpc>
              <a:spcBef>
                <a:spcPts val="500"/>
              </a:spcBef>
              <a:spcAft>
                <a:spcPts val="0"/>
              </a:spcAft>
              <a:buClr>
                <a:schemeClr val="lt1"/>
              </a:buClr>
              <a:buSzPts val="2000"/>
              <a:buNone/>
              <a:defRPr sz="2000"/>
            </a:lvl2pPr>
            <a:lvl3pPr lvl="2" algn="ctr">
              <a:lnSpc>
                <a:spcPct val="90000"/>
              </a:lnSpc>
              <a:spcBef>
                <a:spcPts val="500"/>
              </a:spcBef>
              <a:spcAft>
                <a:spcPts val="0"/>
              </a:spcAft>
              <a:buClr>
                <a:schemeClr val="lt1"/>
              </a:buClr>
              <a:buSzPts val="1800"/>
              <a:buNone/>
              <a:defRPr sz="1800"/>
            </a:lvl3pPr>
            <a:lvl4pPr lvl="3" algn="ctr">
              <a:lnSpc>
                <a:spcPct val="90000"/>
              </a:lnSpc>
              <a:spcBef>
                <a:spcPts val="500"/>
              </a:spcBef>
              <a:spcAft>
                <a:spcPts val="0"/>
              </a:spcAft>
              <a:buClr>
                <a:schemeClr val="lt1"/>
              </a:buClr>
              <a:buSzPts val="1600"/>
              <a:buNone/>
              <a:defRPr sz="1600"/>
            </a:lvl4pPr>
            <a:lvl5pPr lvl="4" algn="ctr">
              <a:lnSpc>
                <a:spcPct val="90000"/>
              </a:lnSpc>
              <a:spcBef>
                <a:spcPts val="500"/>
              </a:spcBef>
              <a:spcAft>
                <a:spcPts val="0"/>
              </a:spcAft>
              <a:buClr>
                <a:schemeClr val="lt1"/>
              </a:buClr>
              <a:buSzPts val="1600"/>
              <a:buNone/>
              <a:defRPr sz="1600"/>
            </a:lvl5pPr>
            <a:lvl6pPr lvl="5" algn="ctr">
              <a:lnSpc>
                <a:spcPct val="90000"/>
              </a:lnSpc>
              <a:spcBef>
                <a:spcPts val="500"/>
              </a:spcBef>
              <a:spcAft>
                <a:spcPts val="0"/>
              </a:spcAft>
              <a:buClr>
                <a:schemeClr val="lt1"/>
              </a:buClr>
              <a:buSzPts val="1600"/>
              <a:buNone/>
              <a:defRPr sz="1600"/>
            </a:lvl6pPr>
            <a:lvl7pPr lvl="6" algn="ctr">
              <a:lnSpc>
                <a:spcPct val="90000"/>
              </a:lnSpc>
              <a:spcBef>
                <a:spcPts val="500"/>
              </a:spcBef>
              <a:spcAft>
                <a:spcPts val="0"/>
              </a:spcAft>
              <a:buClr>
                <a:schemeClr val="lt1"/>
              </a:buClr>
              <a:buSzPts val="1600"/>
              <a:buNone/>
              <a:defRPr sz="1600"/>
            </a:lvl7pPr>
            <a:lvl8pPr lvl="7" algn="ctr">
              <a:lnSpc>
                <a:spcPct val="90000"/>
              </a:lnSpc>
              <a:spcBef>
                <a:spcPts val="500"/>
              </a:spcBef>
              <a:spcAft>
                <a:spcPts val="0"/>
              </a:spcAft>
              <a:buClr>
                <a:schemeClr val="lt1"/>
              </a:buClr>
              <a:buSzPts val="1600"/>
              <a:buNone/>
              <a:defRPr sz="1600"/>
            </a:lvl8pPr>
            <a:lvl9pPr lvl="8" algn="ctr">
              <a:lnSpc>
                <a:spcPct val="90000"/>
              </a:lnSpc>
              <a:spcBef>
                <a:spcPts val="500"/>
              </a:spcBef>
              <a:spcAft>
                <a:spcPts val="0"/>
              </a:spcAft>
              <a:buClr>
                <a:schemeClr val="lt1"/>
              </a:buClr>
              <a:buSzPts val="1600"/>
              <a:buNone/>
              <a:defRPr sz="1600"/>
            </a:lvl9pPr>
          </a:lstStyle>
          <a:p>
            <a:endParaRPr/>
          </a:p>
        </p:txBody>
      </p:sp>
      <p:sp>
        <p:nvSpPr>
          <p:cNvPr id="16" name="Google Shape;16;p16"/>
          <p:cNvSpPr txBox="1">
            <a:spLocks noGrp="1"/>
          </p:cNvSpPr>
          <p:nvPr>
            <p:ph type="dt" idx="10"/>
          </p:nvPr>
        </p:nvSpPr>
        <p:spPr>
          <a:xfrm>
            <a:off x="7909561" y="4314328"/>
            <a:ext cx="2910840" cy="374642"/>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16"/>
          <p:cNvSpPr txBox="1">
            <a:spLocks noGrp="1"/>
          </p:cNvSpPr>
          <p:nvPr>
            <p:ph type="ftr" idx="11"/>
          </p:nvPr>
        </p:nvSpPr>
        <p:spPr>
          <a:xfrm>
            <a:off x="1371600" y="4323845"/>
            <a:ext cx="64008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16"/>
          <p:cNvSpPr txBox="1">
            <a:spLocks noGrp="1"/>
          </p:cNvSpPr>
          <p:nvPr>
            <p:ph type="sldNum" idx="12"/>
          </p:nvPr>
        </p:nvSpPr>
        <p:spPr>
          <a:xfrm>
            <a:off x="8077200" y="1430866"/>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9"/>
        <p:cNvGrpSpPr/>
        <p:nvPr/>
      </p:nvGrpSpPr>
      <p:grpSpPr>
        <a:xfrm>
          <a:off x="0" y="0"/>
          <a:ext cx="0" cy="0"/>
          <a:chOff x="0" y="0"/>
          <a:chExt cx="0" cy="0"/>
        </a:xfrm>
      </p:grpSpPr>
      <p:sp>
        <p:nvSpPr>
          <p:cNvPr id="20" name="Google Shape;20;p17"/>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 name="Google Shape;21;p17"/>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22" name="Google Shape;22;p17"/>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17"/>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17"/>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matchingName="Section Header" type="secHead">
  <p:cSld name="SECTION_HEADER">
    <p:spTree>
      <p:nvGrpSpPr>
        <p:cNvPr id="1" name="Shape 25"/>
        <p:cNvGrpSpPr/>
        <p:nvPr/>
      </p:nvGrpSpPr>
      <p:grpSpPr>
        <a:xfrm>
          <a:off x="0" y="0"/>
          <a:ext cx="0" cy="0"/>
          <a:chOff x="0" y="0"/>
          <a:chExt cx="0" cy="0"/>
        </a:xfrm>
      </p:grpSpPr>
      <p:pic>
        <p:nvPicPr>
          <p:cNvPr id="26" name="Google Shape;26;p18" descr="C0-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27" name="Google Shape;27;p18"/>
          <p:cNvSpPr txBox="1">
            <a:spLocks noGrp="1"/>
          </p:cNvSpPr>
          <p:nvPr>
            <p:ph type="title"/>
          </p:nvPr>
        </p:nvSpPr>
        <p:spPr>
          <a:xfrm>
            <a:off x="685800" y="753533"/>
            <a:ext cx="10820399" cy="2801935"/>
          </a:xfrm>
          <a:prstGeom prst="rect">
            <a:avLst/>
          </a:prstGeom>
          <a:noFill/>
          <a:ln>
            <a:noFill/>
          </a:ln>
        </p:spPr>
        <p:txBody>
          <a:bodyPr spcFirstLastPara="1" wrap="square" lIns="91425" tIns="45700" rIns="91425" bIns="45700" anchor="b" anchorCtr="0">
            <a:normAutofit/>
          </a:bodyPr>
          <a:lstStyle>
            <a:lvl1pPr lvl="0" algn="r">
              <a:lnSpc>
                <a:spcPct val="90000"/>
              </a:lnSpc>
              <a:spcBef>
                <a:spcPts val="0"/>
              </a:spcBef>
              <a:spcAft>
                <a:spcPts val="0"/>
              </a:spcAft>
              <a:buClr>
                <a:schemeClr val="lt1"/>
              </a:buClr>
              <a:buSzPts val="4000"/>
              <a:buFont typeface="Century Gothic"/>
              <a:buNone/>
              <a:defRPr sz="4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18"/>
          <p:cNvSpPr txBox="1">
            <a:spLocks noGrp="1"/>
          </p:cNvSpPr>
          <p:nvPr>
            <p:ph type="body" idx="1"/>
          </p:nvPr>
        </p:nvSpPr>
        <p:spPr>
          <a:xfrm>
            <a:off x="1024467" y="3641725"/>
            <a:ext cx="10490200" cy="955675"/>
          </a:xfrm>
          <a:prstGeom prst="rect">
            <a:avLst/>
          </a:prstGeom>
          <a:noFill/>
          <a:ln>
            <a:noFill/>
          </a:ln>
        </p:spPr>
        <p:txBody>
          <a:bodyPr spcFirstLastPara="1" wrap="square" lIns="91425" tIns="45700" rIns="91425" bIns="45700" anchor="t" anchorCtr="0">
            <a:normAutofit/>
          </a:bodyPr>
          <a:lstStyle>
            <a:lvl1pPr marL="457200" lvl="0" indent="-228600" algn="r">
              <a:lnSpc>
                <a:spcPct val="90000"/>
              </a:lnSpc>
              <a:spcBef>
                <a:spcPts val="1000"/>
              </a:spcBef>
              <a:spcAft>
                <a:spcPts val="0"/>
              </a:spcAft>
              <a:buClr>
                <a:schemeClr val="lt1"/>
              </a:buClr>
              <a:buSzPts val="2200"/>
              <a:buNone/>
              <a:defRPr sz="2200">
                <a:solidFill>
                  <a:schemeClr val="lt1"/>
                </a:solidFill>
              </a:defRPr>
            </a:lvl1pPr>
            <a:lvl2pPr marL="914400" lvl="1" indent="-228600" algn="l">
              <a:lnSpc>
                <a:spcPct val="90000"/>
              </a:lnSpc>
              <a:spcBef>
                <a:spcPts val="500"/>
              </a:spcBef>
              <a:spcAft>
                <a:spcPts val="0"/>
              </a:spcAft>
              <a:buClr>
                <a:schemeClr val="lt1"/>
              </a:buClr>
              <a:buSzPts val="2000"/>
              <a:buNone/>
              <a:defRPr sz="2000">
                <a:solidFill>
                  <a:schemeClr val="lt1"/>
                </a:solidFill>
              </a:defRPr>
            </a:lvl2pPr>
            <a:lvl3pPr marL="1371600" lvl="2" indent="-228600" algn="l">
              <a:lnSpc>
                <a:spcPct val="90000"/>
              </a:lnSpc>
              <a:spcBef>
                <a:spcPts val="500"/>
              </a:spcBef>
              <a:spcAft>
                <a:spcPts val="0"/>
              </a:spcAft>
              <a:buClr>
                <a:schemeClr val="lt1"/>
              </a:buClr>
              <a:buSzPts val="1800"/>
              <a:buNone/>
              <a:defRPr sz="1800">
                <a:solidFill>
                  <a:schemeClr val="lt1"/>
                </a:solidFill>
              </a:defRPr>
            </a:lvl3pPr>
            <a:lvl4pPr marL="1828800" lvl="3" indent="-228600" algn="l">
              <a:lnSpc>
                <a:spcPct val="90000"/>
              </a:lnSpc>
              <a:spcBef>
                <a:spcPts val="500"/>
              </a:spcBef>
              <a:spcAft>
                <a:spcPts val="0"/>
              </a:spcAft>
              <a:buClr>
                <a:schemeClr val="lt1"/>
              </a:buClr>
              <a:buSzPts val="1600"/>
              <a:buNone/>
              <a:defRPr sz="1600">
                <a:solidFill>
                  <a:schemeClr val="lt1"/>
                </a:solidFill>
              </a:defRPr>
            </a:lvl4pPr>
            <a:lvl5pPr marL="2286000" lvl="4" indent="-228600" algn="l">
              <a:lnSpc>
                <a:spcPct val="90000"/>
              </a:lnSpc>
              <a:spcBef>
                <a:spcPts val="500"/>
              </a:spcBef>
              <a:spcAft>
                <a:spcPts val="0"/>
              </a:spcAft>
              <a:buClr>
                <a:schemeClr val="lt1"/>
              </a:buClr>
              <a:buSzPts val="1600"/>
              <a:buNone/>
              <a:defRPr sz="1600">
                <a:solidFill>
                  <a:schemeClr val="lt1"/>
                </a:solidFill>
              </a:defRPr>
            </a:lvl5pPr>
            <a:lvl6pPr marL="2743200" lvl="5" indent="-228600" algn="l">
              <a:lnSpc>
                <a:spcPct val="90000"/>
              </a:lnSpc>
              <a:spcBef>
                <a:spcPts val="500"/>
              </a:spcBef>
              <a:spcAft>
                <a:spcPts val="0"/>
              </a:spcAft>
              <a:buClr>
                <a:schemeClr val="lt1"/>
              </a:buClr>
              <a:buSzPts val="1600"/>
              <a:buNone/>
              <a:defRPr sz="1600">
                <a:solidFill>
                  <a:schemeClr val="lt1"/>
                </a:solidFill>
              </a:defRPr>
            </a:lvl6pPr>
            <a:lvl7pPr marL="3200400" lvl="6" indent="-228600" algn="l">
              <a:lnSpc>
                <a:spcPct val="90000"/>
              </a:lnSpc>
              <a:spcBef>
                <a:spcPts val="500"/>
              </a:spcBef>
              <a:spcAft>
                <a:spcPts val="0"/>
              </a:spcAft>
              <a:buClr>
                <a:schemeClr val="lt1"/>
              </a:buClr>
              <a:buSzPts val="1600"/>
              <a:buNone/>
              <a:defRPr sz="1600">
                <a:solidFill>
                  <a:schemeClr val="lt1"/>
                </a:solidFill>
              </a:defRPr>
            </a:lvl7pPr>
            <a:lvl8pPr marL="3657600" lvl="7" indent="-228600" algn="l">
              <a:lnSpc>
                <a:spcPct val="90000"/>
              </a:lnSpc>
              <a:spcBef>
                <a:spcPts val="500"/>
              </a:spcBef>
              <a:spcAft>
                <a:spcPts val="0"/>
              </a:spcAft>
              <a:buClr>
                <a:schemeClr val="lt1"/>
              </a:buClr>
              <a:buSzPts val="1600"/>
              <a:buNone/>
              <a:defRPr sz="1600">
                <a:solidFill>
                  <a:schemeClr val="lt1"/>
                </a:solidFill>
              </a:defRPr>
            </a:lvl8pPr>
            <a:lvl9pPr marL="4114800" lvl="8" indent="-228600" algn="l">
              <a:lnSpc>
                <a:spcPct val="90000"/>
              </a:lnSpc>
              <a:spcBef>
                <a:spcPts val="500"/>
              </a:spcBef>
              <a:spcAft>
                <a:spcPts val="0"/>
              </a:spcAft>
              <a:buClr>
                <a:schemeClr val="lt1"/>
              </a:buClr>
              <a:buSzPts val="1600"/>
              <a:buNone/>
              <a:defRPr sz="1600">
                <a:solidFill>
                  <a:schemeClr val="lt1"/>
                </a:solidFill>
              </a:defRPr>
            </a:lvl9pPr>
          </a:lstStyle>
          <a:p>
            <a:endParaRPr/>
          </a:p>
        </p:txBody>
      </p:sp>
      <p:sp>
        <p:nvSpPr>
          <p:cNvPr id="29" name="Google Shape;29;p18"/>
          <p:cNvSpPr txBox="1">
            <a:spLocks noGrp="1"/>
          </p:cNvSpPr>
          <p:nvPr>
            <p:ph type="dt" idx="10"/>
          </p:nvPr>
        </p:nvSpPr>
        <p:spPr>
          <a:xfrm>
            <a:off x="7814452" y="38100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18"/>
          <p:cNvSpPr txBox="1">
            <a:spLocks noGrp="1"/>
          </p:cNvSpPr>
          <p:nvPr>
            <p:ph type="ftr" idx="11"/>
          </p:nvPr>
        </p:nvSpPr>
        <p:spPr>
          <a:xfrm>
            <a:off x="685800" y="381001"/>
            <a:ext cx="6991492" cy="36406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18"/>
          <p:cNvSpPr txBox="1">
            <a:spLocks noGrp="1"/>
          </p:cNvSpPr>
          <p:nvPr>
            <p:ph type="sldNum" idx="12"/>
          </p:nvPr>
        </p:nvSpPr>
        <p:spPr>
          <a:xfrm>
            <a:off x="10862452" y="381000"/>
            <a:ext cx="643748"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2"/>
        <p:cNvGrpSpPr/>
        <p:nvPr/>
      </p:nvGrpSpPr>
      <p:grpSpPr>
        <a:xfrm>
          <a:off x="0" y="0"/>
          <a:ext cx="0" cy="0"/>
          <a:chOff x="0" y="0"/>
          <a:chExt cx="0" cy="0"/>
        </a:xfrm>
      </p:grpSpPr>
      <p:sp>
        <p:nvSpPr>
          <p:cNvPr id="33" name="Google Shape;33;p19"/>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4" name="Google Shape;34;p19"/>
          <p:cNvSpPr txBox="1">
            <a:spLocks noGrp="1"/>
          </p:cNvSpPr>
          <p:nvPr>
            <p:ph type="body" idx="1"/>
          </p:nvPr>
        </p:nvSpPr>
        <p:spPr>
          <a:xfrm>
            <a:off x="685800" y="2194559"/>
            <a:ext cx="5334000" cy="4024125"/>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35" name="Google Shape;35;p19"/>
          <p:cNvSpPr txBox="1">
            <a:spLocks noGrp="1"/>
          </p:cNvSpPr>
          <p:nvPr>
            <p:ph type="body" idx="2"/>
          </p:nvPr>
        </p:nvSpPr>
        <p:spPr>
          <a:xfrm>
            <a:off x="6172200" y="2194559"/>
            <a:ext cx="5334000" cy="4024125"/>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36" name="Google Shape;36;p19"/>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19"/>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19"/>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9"/>
        <p:cNvGrpSpPr/>
        <p:nvPr/>
      </p:nvGrpSpPr>
      <p:grpSpPr>
        <a:xfrm>
          <a:off x="0" y="0"/>
          <a:ext cx="0" cy="0"/>
          <a:chOff x="0" y="0"/>
          <a:chExt cx="0" cy="0"/>
        </a:xfrm>
      </p:grpSpPr>
      <p:sp>
        <p:nvSpPr>
          <p:cNvPr id="40" name="Google Shape;40;p20"/>
          <p:cNvSpPr txBox="1">
            <a:spLocks noGrp="1"/>
          </p:cNvSpPr>
          <p:nvPr>
            <p:ph type="title"/>
          </p:nvPr>
        </p:nvSpPr>
        <p:spPr>
          <a:xfrm>
            <a:off x="2895600" y="762000"/>
            <a:ext cx="8610600" cy="12954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 name="Google Shape;41;p20"/>
          <p:cNvSpPr txBox="1">
            <a:spLocks noGrp="1"/>
          </p:cNvSpPr>
          <p:nvPr>
            <p:ph type="body" idx="1"/>
          </p:nvPr>
        </p:nvSpPr>
        <p:spPr>
          <a:xfrm>
            <a:off x="914409" y="2183802"/>
            <a:ext cx="5079991"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lt1"/>
              </a:buClr>
              <a:buSzPts val="2800"/>
              <a:buNone/>
              <a:defRPr sz="28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42" name="Google Shape;42;p20"/>
          <p:cNvSpPr txBox="1">
            <a:spLocks noGrp="1"/>
          </p:cNvSpPr>
          <p:nvPr>
            <p:ph type="body" idx="2"/>
          </p:nvPr>
        </p:nvSpPr>
        <p:spPr>
          <a:xfrm>
            <a:off x="685800" y="3132666"/>
            <a:ext cx="5311775" cy="3086019"/>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43" name="Google Shape;43;p20"/>
          <p:cNvSpPr txBox="1">
            <a:spLocks noGrp="1"/>
          </p:cNvSpPr>
          <p:nvPr>
            <p:ph type="body" idx="3"/>
          </p:nvPr>
        </p:nvSpPr>
        <p:spPr>
          <a:xfrm>
            <a:off x="6400800" y="2183802"/>
            <a:ext cx="5105400"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lt1"/>
              </a:buClr>
              <a:buSzPts val="2800"/>
              <a:buNone/>
              <a:defRPr sz="28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44" name="Google Shape;44;p20"/>
          <p:cNvSpPr txBox="1">
            <a:spLocks noGrp="1"/>
          </p:cNvSpPr>
          <p:nvPr>
            <p:ph type="body" idx="4"/>
          </p:nvPr>
        </p:nvSpPr>
        <p:spPr>
          <a:xfrm>
            <a:off x="6172200" y="3132666"/>
            <a:ext cx="5334000" cy="3086019"/>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45" name="Google Shape;45;p20"/>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6" name="Google Shape;46;p20"/>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20"/>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8"/>
        <p:cNvGrpSpPr/>
        <p:nvPr/>
      </p:nvGrpSpPr>
      <p:grpSpPr>
        <a:xfrm>
          <a:off x="0" y="0"/>
          <a:ext cx="0" cy="0"/>
          <a:chOff x="0" y="0"/>
          <a:chExt cx="0" cy="0"/>
        </a:xfrm>
      </p:grpSpPr>
      <p:sp>
        <p:nvSpPr>
          <p:cNvPr id="49" name="Google Shape;49;p21"/>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0" name="Google Shape;50;p21"/>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21"/>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21"/>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3"/>
        <p:cNvGrpSpPr/>
        <p:nvPr/>
      </p:nvGrpSpPr>
      <p:grpSpPr>
        <a:xfrm>
          <a:off x="0" y="0"/>
          <a:ext cx="0" cy="0"/>
          <a:chOff x="0" y="0"/>
          <a:chExt cx="0" cy="0"/>
        </a:xfrm>
      </p:grpSpPr>
      <p:sp>
        <p:nvSpPr>
          <p:cNvPr id="54" name="Google Shape;54;p22"/>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5" name="Google Shape;55;p22"/>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22"/>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7"/>
        <p:cNvGrpSpPr/>
        <p:nvPr/>
      </p:nvGrpSpPr>
      <p:grpSpPr>
        <a:xfrm>
          <a:off x="0" y="0"/>
          <a:ext cx="0" cy="0"/>
          <a:chOff x="0" y="0"/>
          <a:chExt cx="0" cy="0"/>
        </a:xfrm>
      </p:grpSpPr>
      <p:sp>
        <p:nvSpPr>
          <p:cNvPr id="58" name="Google Shape;58;p23"/>
          <p:cNvSpPr txBox="1">
            <a:spLocks noGrp="1"/>
          </p:cNvSpPr>
          <p:nvPr>
            <p:ph type="title"/>
          </p:nvPr>
        </p:nvSpPr>
        <p:spPr>
          <a:xfrm>
            <a:off x="685800" y="1524000"/>
            <a:ext cx="4114800"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23"/>
          <p:cNvSpPr txBox="1">
            <a:spLocks noGrp="1"/>
          </p:cNvSpPr>
          <p:nvPr>
            <p:ph type="body" idx="1"/>
          </p:nvPr>
        </p:nvSpPr>
        <p:spPr>
          <a:xfrm>
            <a:off x="4995582" y="746759"/>
            <a:ext cx="6510618" cy="5471925"/>
          </a:xfrm>
          <a:prstGeom prst="rect">
            <a:avLst/>
          </a:prstGeom>
          <a:noFill/>
          <a:ln>
            <a:noFill/>
          </a:ln>
        </p:spPr>
        <p:txBody>
          <a:bodyPr spcFirstLastPara="1" wrap="square" lIns="91425" tIns="45700" rIns="91425" bIns="45700" anchor="ctr"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60" name="Google Shape;60;p23"/>
          <p:cNvSpPr txBox="1">
            <a:spLocks noGrp="1"/>
          </p:cNvSpPr>
          <p:nvPr>
            <p:ph type="body" idx="2"/>
          </p:nvPr>
        </p:nvSpPr>
        <p:spPr>
          <a:xfrm>
            <a:off x="685800" y="3124199"/>
            <a:ext cx="4114800" cy="3094485"/>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61" name="Google Shape;61;p23"/>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23"/>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23"/>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4"/>
        <p:cNvGrpSpPr/>
        <p:nvPr/>
      </p:nvGrpSpPr>
      <p:grpSpPr>
        <a:xfrm>
          <a:off x="0" y="0"/>
          <a:ext cx="0" cy="0"/>
          <a:chOff x="0" y="0"/>
          <a:chExt cx="0" cy="0"/>
        </a:xfrm>
      </p:grpSpPr>
      <p:sp>
        <p:nvSpPr>
          <p:cNvPr id="65" name="Google Shape;65;p24"/>
          <p:cNvSpPr txBox="1">
            <a:spLocks noGrp="1"/>
          </p:cNvSpPr>
          <p:nvPr>
            <p:ph type="title"/>
          </p:nvPr>
        </p:nvSpPr>
        <p:spPr>
          <a:xfrm>
            <a:off x="685800" y="1524000"/>
            <a:ext cx="6873240"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24"/>
          <p:cNvSpPr>
            <a:spLocks noGrp="1"/>
          </p:cNvSpPr>
          <p:nvPr>
            <p:ph type="pic" idx="2"/>
          </p:nvPr>
        </p:nvSpPr>
        <p:spPr>
          <a:xfrm>
            <a:off x="7861238" y="751241"/>
            <a:ext cx="3644962" cy="5467443"/>
          </a:xfrm>
          <a:prstGeom prst="rect">
            <a:avLst/>
          </a:prstGeom>
          <a:noFill/>
          <a:ln>
            <a:noFill/>
          </a:ln>
        </p:spPr>
        <p:txBody>
          <a:bodyPr spcFirstLastPara="1" wrap="square" lIns="91425" tIns="45700" rIns="91425" bIns="45700" anchor="t" anchorCtr="0">
            <a:normAutofit/>
          </a:bodyPr>
          <a:lstStyle>
            <a:lvl1pPr marR="0" lvl="0" algn="l" rtl="0">
              <a:lnSpc>
                <a:spcPct val="90000"/>
              </a:lnSpc>
              <a:spcBef>
                <a:spcPts val="1000"/>
              </a:spcBef>
              <a:spcAft>
                <a:spcPts val="0"/>
              </a:spcAft>
              <a:buClr>
                <a:schemeClr val="lt1"/>
              </a:buClr>
              <a:buSzPts val="3200"/>
              <a:buFont typeface="Arial"/>
              <a:buNone/>
              <a:defRPr sz="3200" b="0" i="0" u="none" strike="noStrike" cap="none">
                <a:solidFill>
                  <a:schemeClr val="lt1"/>
                </a:solidFill>
                <a:latin typeface="Century Gothic"/>
                <a:ea typeface="Century Gothic"/>
                <a:cs typeface="Century Gothic"/>
                <a:sym typeface="Century Gothic"/>
              </a:defRPr>
            </a:lvl1pPr>
            <a:lvl2pPr marR="0" lvl="1" algn="l" rtl="0">
              <a:lnSpc>
                <a:spcPct val="90000"/>
              </a:lnSpc>
              <a:spcBef>
                <a:spcPts val="500"/>
              </a:spcBef>
              <a:spcAft>
                <a:spcPts val="0"/>
              </a:spcAft>
              <a:buClr>
                <a:schemeClr val="lt1"/>
              </a:buClr>
              <a:buSzPts val="2800"/>
              <a:buFont typeface="Arial"/>
              <a:buNone/>
              <a:defRPr sz="2800" b="0" i="0" u="none" strike="noStrike" cap="none">
                <a:solidFill>
                  <a:schemeClr val="lt1"/>
                </a:solidFill>
                <a:latin typeface="Century Gothic"/>
                <a:ea typeface="Century Gothic"/>
                <a:cs typeface="Century Gothic"/>
                <a:sym typeface="Century Gothic"/>
              </a:defRPr>
            </a:lvl2pPr>
            <a:lvl3pPr marR="0" lvl="2" algn="l" rtl="0">
              <a:lnSpc>
                <a:spcPct val="90000"/>
              </a:lnSpc>
              <a:spcBef>
                <a:spcPts val="500"/>
              </a:spcBef>
              <a:spcAft>
                <a:spcPts val="0"/>
              </a:spcAft>
              <a:buClr>
                <a:schemeClr val="lt1"/>
              </a:buClr>
              <a:buSzPts val="2400"/>
              <a:buFont typeface="Arial"/>
              <a:buNone/>
              <a:defRPr sz="2400" b="0" i="0" u="none" strike="noStrike" cap="none">
                <a:solidFill>
                  <a:schemeClr val="lt1"/>
                </a:solidFill>
                <a:latin typeface="Century Gothic"/>
                <a:ea typeface="Century Gothic"/>
                <a:cs typeface="Century Gothic"/>
                <a:sym typeface="Century Gothic"/>
              </a:defRPr>
            </a:lvl3pPr>
            <a:lvl4pPr marR="0" lvl="3"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4pPr>
            <a:lvl5pPr marR="0" lvl="4"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5pPr>
            <a:lvl6pPr marR="0" lvl="5"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6pPr>
            <a:lvl7pPr marR="0" lvl="6"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7pPr>
            <a:lvl8pPr marR="0" lvl="7"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8pPr>
            <a:lvl9pPr marR="0" lvl="8"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9pPr>
          </a:lstStyle>
          <a:p>
            <a:endParaRPr/>
          </a:p>
        </p:txBody>
      </p:sp>
      <p:sp>
        <p:nvSpPr>
          <p:cNvPr id="67" name="Google Shape;67;p24"/>
          <p:cNvSpPr txBox="1">
            <a:spLocks noGrp="1"/>
          </p:cNvSpPr>
          <p:nvPr>
            <p:ph type="body" idx="1"/>
          </p:nvPr>
        </p:nvSpPr>
        <p:spPr>
          <a:xfrm>
            <a:off x="685800" y="3124199"/>
            <a:ext cx="6873240" cy="3094485"/>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68" name="Google Shape;68;p24"/>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9" name="Google Shape;69;p24"/>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24"/>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anoramic Picture with Caption">
  <p:cSld name="Panoramic Picture with Caption">
    <p:spTree>
      <p:nvGrpSpPr>
        <p:cNvPr id="1" name="Shape 71"/>
        <p:cNvGrpSpPr/>
        <p:nvPr/>
      </p:nvGrpSpPr>
      <p:grpSpPr>
        <a:xfrm>
          <a:off x="0" y="0"/>
          <a:ext cx="0" cy="0"/>
          <a:chOff x="0" y="0"/>
          <a:chExt cx="0" cy="0"/>
        </a:xfrm>
      </p:grpSpPr>
      <p:sp>
        <p:nvSpPr>
          <p:cNvPr id="72" name="Google Shape;72;p25"/>
          <p:cNvSpPr txBox="1">
            <a:spLocks noGrp="1"/>
          </p:cNvSpPr>
          <p:nvPr>
            <p:ph type="title"/>
          </p:nvPr>
        </p:nvSpPr>
        <p:spPr>
          <a:xfrm>
            <a:off x="685777" y="4697360"/>
            <a:ext cx="10822034" cy="819355"/>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25"/>
          <p:cNvSpPr>
            <a:spLocks noGrp="1"/>
          </p:cNvSpPr>
          <p:nvPr>
            <p:ph type="pic" idx="2"/>
          </p:nvPr>
        </p:nvSpPr>
        <p:spPr>
          <a:xfrm>
            <a:off x="681727" y="941439"/>
            <a:ext cx="10821840" cy="3478161"/>
          </a:xfrm>
          <a:prstGeom prst="rect">
            <a:avLst/>
          </a:prstGeom>
          <a:noFill/>
          <a:ln>
            <a:noFill/>
          </a:ln>
        </p:spPr>
        <p:txBody>
          <a:bodyPr spcFirstLastPara="1" wrap="square" lIns="91425" tIns="45700" rIns="91425" bIns="45700" anchor="t" anchorCtr="0">
            <a:normAutofit/>
          </a:bodyPr>
          <a:lstStyle>
            <a:lvl1pPr marR="0" lvl="0" algn="l" rtl="0">
              <a:lnSpc>
                <a:spcPct val="90000"/>
              </a:lnSpc>
              <a:spcBef>
                <a:spcPts val="1000"/>
              </a:spcBef>
              <a:spcAft>
                <a:spcPts val="0"/>
              </a:spcAft>
              <a:buClr>
                <a:schemeClr val="lt1"/>
              </a:buClr>
              <a:buSzPts val="3200"/>
              <a:buFont typeface="Arial"/>
              <a:buNone/>
              <a:defRPr sz="3200" b="0" i="0" u="none" strike="noStrike" cap="none">
                <a:solidFill>
                  <a:schemeClr val="lt1"/>
                </a:solidFill>
                <a:latin typeface="Century Gothic"/>
                <a:ea typeface="Century Gothic"/>
                <a:cs typeface="Century Gothic"/>
                <a:sym typeface="Century Gothic"/>
              </a:defRPr>
            </a:lvl1pPr>
            <a:lvl2pPr marR="0" lvl="1" algn="l" rtl="0">
              <a:lnSpc>
                <a:spcPct val="90000"/>
              </a:lnSpc>
              <a:spcBef>
                <a:spcPts val="500"/>
              </a:spcBef>
              <a:spcAft>
                <a:spcPts val="0"/>
              </a:spcAft>
              <a:buClr>
                <a:schemeClr val="lt1"/>
              </a:buClr>
              <a:buSzPts val="2800"/>
              <a:buFont typeface="Arial"/>
              <a:buNone/>
              <a:defRPr sz="2800" b="0" i="0" u="none" strike="noStrike" cap="none">
                <a:solidFill>
                  <a:schemeClr val="lt1"/>
                </a:solidFill>
                <a:latin typeface="Century Gothic"/>
                <a:ea typeface="Century Gothic"/>
                <a:cs typeface="Century Gothic"/>
                <a:sym typeface="Century Gothic"/>
              </a:defRPr>
            </a:lvl2pPr>
            <a:lvl3pPr marR="0" lvl="2" algn="l" rtl="0">
              <a:lnSpc>
                <a:spcPct val="90000"/>
              </a:lnSpc>
              <a:spcBef>
                <a:spcPts val="500"/>
              </a:spcBef>
              <a:spcAft>
                <a:spcPts val="0"/>
              </a:spcAft>
              <a:buClr>
                <a:schemeClr val="lt1"/>
              </a:buClr>
              <a:buSzPts val="2400"/>
              <a:buFont typeface="Arial"/>
              <a:buNone/>
              <a:defRPr sz="2400" b="0" i="0" u="none" strike="noStrike" cap="none">
                <a:solidFill>
                  <a:schemeClr val="lt1"/>
                </a:solidFill>
                <a:latin typeface="Century Gothic"/>
                <a:ea typeface="Century Gothic"/>
                <a:cs typeface="Century Gothic"/>
                <a:sym typeface="Century Gothic"/>
              </a:defRPr>
            </a:lvl3pPr>
            <a:lvl4pPr marR="0" lvl="3"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4pPr>
            <a:lvl5pPr marR="0" lvl="4"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5pPr>
            <a:lvl6pPr marR="0" lvl="5"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6pPr>
            <a:lvl7pPr marR="0" lvl="6"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7pPr>
            <a:lvl8pPr marR="0" lvl="7"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8pPr>
            <a:lvl9pPr marR="0" lvl="8"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9pPr>
          </a:lstStyle>
          <a:p>
            <a:endParaRPr/>
          </a:p>
        </p:txBody>
      </p:sp>
      <p:sp>
        <p:nvSpPr>
          <p:cNvPr id="74" name="Google Shape;74;p25"/>
          <p:cNvSpPr txBox="1">
            <a:spLocks noGrp="1"/>
          </p:cNvSpPr>
          <p:nvPr>
            <p:ph type="body" idx="1"/>
          </p:nvPr>
        </p:nvSpPr>
        <p:spPr>
          <a:xfrm>
            <a:off x="685800" y="5516715"/>
            <a:ext cx="10820400" cy="701969"/>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75" name="Google Shape;75;p25"/>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25"/>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25"/>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matchingName="Title and Caption">
  <p:cSld name="Title and Caption">
    <p:spTree>
      <p:nvGrpSpPr>
        <p:cNvPr id="1" name="Shape 78"/>
        <p:cNvGrpSpPr/>
        <p:nvPr/>
      </p:nvGrpSpPr>
      <p:grpSpPr>
        <a:xfrm>
          <a:off x="0" y="0"/>
          <a:ext cx="0" cy="0"/>
          <a:chOff x="0" y="0"/>
          <a:chExt cx="0" cy="0"/>
        </a:xfrm>
      </p:grpSpPr>
      <p:pic>
        <p:nvPicPr>
          <p:cNvPr id="79" name="Google Shape;79;p26" descr="C0-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80" name="Google Shape;80;p26"/>
          <p:cNvSpPr txBox="1">
            <a:spLocks noGrp="1"/>
          </p:cNvSpPr>
          <p:nvPr>
            <p:ph type="title"/>
          </p:nvPr>
        </p:nvSpPr>
        <p:spPr>
          <a:xfrm>
            <a:off x="685800" y="753532"/>
            <a:ext cx="10820400" cy="2802467"/>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1" name="Google Shape;81;p26"/>
          <p:cNvSpPr txBox="1">
            <a:spLocks noGrp="1"/>
          </p:cNvSpPr>
          <p:nvPr>
            <p:ph type="body" idx="1"/>
          </p:nvPr>
        </p:nvSpPr>
        <p:spPr>
          <a:xfrm>
            <a:off x="1024467" y="3649133"/>
            <a:ext cx="10130516" cy="999067"/>
          </a:xfrm>
          <a:prstGeom prst="rect">
            <a:avLst/>
          </a:prstGeom>
          <a:noFill/>
          <a:ln>
            <a:noFill/>
          </a:ln>
        </p:spPr>
        <p:txBody>
          <a:bodyPr spcFirstLastPara="1" wrap="square" lIns="91425" tIns="45700" rIns="91425" bIns="45700" anchor="ctr"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82" name="Google Shape;82;p26"/>
          <p:cNvSpPr txBox="1">
            <a:spLocks noGrp="1"/>
          </p:cNvSpPr>
          <p:nvPr>
            <p:ph type="dt" idx="10"/>
          </p:nvPr>
        </p:nvSpPr>
        <p:spPr>
          <a:xfrm>
            <a:off x="7814452" y="38100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26"/>
          <p:cNvSpPr txBox="1">
            <a:spLocks noGrp="1"/>
          </p:cNvSpPr>
          <p:nvPr>
            <p:ph type="ftr" idx="11"/>
          </p:nvPr>
        </p:nvSpPr>
        <p:spPr>
          <a:xfrm>
            <a:off x="685800" y="379941"/>
            <a:ext cx="6991492"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4" name="Google Shape;84;p26"/>
          <p:cNvSpPr txBox="1">
            <a:spLocks noGrp="1"/>
          </p:cNvSpPr>
          <p:nvPr>
            <p:ph type="sldNum" idx="12"/>
          </p:nvPr>
        </p:nvSpPr>
        <p:spPr>
          <a:xfrm>
            <a:off x="10862452" y="381000"/>
            <a:ext cx="643748"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matchingName="Quote with Caption">
  <p:cSld name="Quote with Caption">
    <p:spTree>
      <p:nvGrpSpPr>
        <p:cNvPr id="1" name="Shape 85"/>
        <p:cNvGrpSpPr/>
        <p:nvPr/>
      </p:nvGrpSpPr>
      <p:grpSpPr>
        <a:xfrm>
          <a:off x="0" y="0"/>
          <a:ext cx="0" cy="0"/>
          <a:chOff x="0" y="0"/>
          <a:chExt cx="0" cy="0"/>
        </a:xfrm>
      </p:grpSpPr>
      <p:pic>
        <p:nvPicPr>
          <p:cNvPr id="86" name="Google Shape;86;p27" descr="C0-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87" name="Google Shape;87;p27"/>
          <p:cNvSpPr txBox="1">
            <a:spLocks noGrp="1"/>
          </p:cNvSpPr>
          <p:nvPr>
            <p:ph type="title"/>
          </p:nvPr>
        </p:nvSpPr>
        <p:spPr>
          <a:xfrm>
            <a:off x="1024467" y="753533"/>
            <a:ext cx="10151533" cy="2604495"/>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8" name="Google Shape;88;p27"/>
          <p:cNvSpPr txBox="1">
            <a:spLocks noGrp="1"/>
          </p:cNvSpPr>
          <p:nvPr>
            <p:ph type="body" idx="1"/>
          </p:nvPr>
        </p:nvSpPr>
        <p:spPr>
          <a:xfrm>
            <a:off x="1303865" y="3365556"/>
            <a:ext cx="9592736" cy="44444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89" name="Google Shape;89;p27"/>
          <p:cNvSpPr txBox="1">
            <a:spLocks noGrp="1"/>
          </p:cNvSpPr>
          <p:nvPr>
            <p:ph type="body" idx="2"/>
          </p:nvPr>
        </p:nvSpPr>
        <p:spPr>
          <a:xfrm>
            <a:off x="1024467" y="3959862"/>
            <a:ext cx="10151533" cy="679871"/>
          </a:xfrm>
          <a:prstGeom prst="rect">
            <a:avLst/>
          </a:prstGeom>
          <a:noFill/>
          <a:ln>
            <a:noFill/>
          </a:ln>
        </p:spPr>
        <p:txBody>
          <a:bodyPr spcFirstLastPara="1" wrap="square" lIns="91425" tIns="45700" rIns="91425" bIns="45700" anchor="ctr"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90" name="Google Shape;90;p27"/>
          <p:cNvSpPr txBox="1">
            <a:spLocks noGrp="1"/>
          </p:cNvSpPr>
          <p:nvPr>
            <p:ph type="dt" idx="10"/>
          </p:nvPr>
        </p:nvSpPr>
        <p:spPr>
          <a:xfrm>
            <a:off x="7814452" y="38100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1" name="Google Shape;91;p27"/>
          <p:cNvSpPr txBox="1">
            <a:spLocks noGrp="1"/>
          </p:cNvSpPr>
          <p:nvPr>
            <p:ph type="ftr" idx="11"/>
          </p:nvPr>
        </p:nvSpPr>
        <p:spPr>
          <a:xfrm>
            <a:off x="685800" y="379941"/>
            <a:ext cx="6991492"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2" name="Google Shape;92;p27"/>
          <p:cNvSpPr txBox="1">
            <a:spLocks noGrp="1"/>
          </p:cNvSpPr>
          <p:nvPr>
            <p:ph type="sldNum" idx="12"/>
          </p:nvPr>
        </p:nvSpPr>
        <p:spPr>
          <a:xfrm>
            <a:off x="10862452" y="381000"/>
            <a:ext cx="643748"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
        <p:nvSpPr>
          <p:cNvPr id="93" name="Google Shape;93;p27"/>
          <p:cNvSpPr txBox="1"/>
          <p:nvPr/>
        </p:nvSpPr>
        <p:spPr>
          <a:xfrm>
            <a:off x="476250" y="933450"/>
            <a:ext cx="609600" cy="584776"/>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lt1"/>
              </a:buClr>
              <a:buSzPts val="8000"/>
              <a:buFont typeface="Century Gothic"/>
              <a:buNone/>
            </a:pPr>
            <a:r>
              <a:rPr lang="en-US" sz="8000" b="0" i="0" u="none" strike="noStrike" cap="none">
                <a:solidFill>
                  <a:schemeClr val="lt1"/>
                </a:solidFill>
                <a:latin typeface="Century Gothic"/>
                <a:ea typeface="Century Gothic"/>
                <a:cs typeface="Century Gothic"/>
                <a:sym typeface="Century Gothic"/>
              </a:rPr>
              <a:t>“</a:t>
            </a:r>
            <a:endParaRPr sz="1400" b="0" i="0" u="none" strike="noStrike" cap="none">
              <a:solidFill>
                <a:srgbClr val="000000"/>
              </a:solidFill>
              <a:latin typeface="Arial"/>
              <a:ea typeface="Arial"/>
              <a:cs typeface="Arial"/>
              <a:sym typeface="Arial"/>
            </a:endParaRPr>
          </a:p>
        </p:txBody>
      </p:sp>
      <p:sp>
        <p:nvSpPr>
          <p:cNvPr id="94" name="Google Shape;94;p27"/>
          <p:cNvSpPr txBox="1"/>
          <p:nvPr/>
        </p:nvSpPr>
        <p:spPr>
          <a:xfrm>
            <a:off x="10984230" y="2701290"/>
            <a:ext cx="609600" cy="584776"/>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chemeClr val="lt1"/>
              </a:buClr>
              <a:buSzPts val="8000"/>
              <a:buFont typeface="Century Gothic"/>
              <a:buNone/>
            </a:pPr>
            <a:r>
              <a:rPr lang="en-US" sz="8000" b="0" i="0" u="none" strike="noStrike" cap="none">
                <a:solidFill>
                  <a:schemeClr val="lt1"/>
                </a:solidFill>
                <a:latin typeface="Century Gothic"/>
                <a:ea typeface="Century Gothic"/>
                <a:cs typeface="Century Gothic"/>
                <a:sym typeface="Century Gothic"/>
              </a:rPr>
              <a:t>”</a:t>
            </a:r>
            <a:endParaRPr sz="14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matchingName="Name Card">
  <p:cSld name="Name Card">
    <p:spTree>
      <p:nvGrpSpPr>
        <p:cNvPr id="1" name="Shape 95"/>
        <p:cNvGrpSpPr/>
        <p:nvPr/>
      </p:nvGrpSpPr>
      <p:grpSpPr>
        <a:xfrm>
          <a:off x="0" y="0"/>
          <a:ext cx="0" cy="0"/>
          <a:chOff x="0" y="0"/>
          <a:chExt cx="0" cy="0"/>
        </a:xfrm>
      </p:grpSpPr>
      <p:pic>
        <p:nvPicPr>
          <p:cNvPr id="96" name="Google Shape;96;p28" descr="C0-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97" name="Google Shape;97;p28"/>
          <p:cNvSpPr txBox="1">
            <a:spLocks noGrp="1"/>
          </p:cNvSpPr>
          <p:nvPr>
            <p:ph type="title"/>
          </p:nvPr>
        </p:nvSpPr>
        <p:spPr>
          <a:xfrm>
            <a:off x="1024495" y="1124701"/>
            <a:ext cx="10146186" cy="2511835"/>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8" name="Google Shape;98;p28"/>
          <p:cNvSpPr txBox="1">
            <a:spLocks noGrp="1"/>
          </p:cNvSpPr>
          <p:nvPr>
            <p:ph type="body" idx="1"/>
          </p:nvPr>
        </p:nvSpPr>
        <p:spPr>
          <a:xfrm>
            <a:off x="1024467" y="3648315"/>
            <a:ext cx="10144654" cy="999885"/>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99" name="Google Shape;99;p28"/>
          <p:cNvSpPr txBox="1">
            <a:spLocks noGrp="1"/>
          </p:cNvSpPr>
          <p:nvPr>
            <p:ph type="dt" idx="10"/>
          </p:nvPr>
        </p:nvSpPr>
        <p:spPr>
          <a:xfrm>
            <a:off x="7814452" y="378883"/>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0" name="Google Shape;100;p28"/>
          <p:cNvSpPr txBox="1">
            <a:spLocks noGrp="1"/>
          </p:cNvSpPr>
          <p:nvPr>
            <p:ph type="ftr" idx="11"/>
          </p:nvPr>
        </p:nvSpPr>
        <p:spPr>
          <a:xfrm>
            <a:off x="685800" y="378883"/>
            <a:ext cx="6991492"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1" name="Google Shape;101;p28"/>
          <p:cNvSpPr txBox="1">
            <a:spLocks noGrp="1"/>
          </p:cNvSpPr>
          <p:nvPr>
            <p:ph type="sldNum" idx="12"/>
          </p:nvPr>
        </p:nvSpPr>
        <p:spPr>
          <a:xfrm>
            <a:off x="10862452" y="381000"/>
            <a:ext cx="643748"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3 Column">
  <p:cSld name="3 Column">
    <p:spTree>
      <p:nvGrpSpPr>
        <p:cNvPr id="1" name="Shape 102"/>
        <p:cNvGrpSpPr/>
        <p:nvPr/>
      </p:nvGrpSpPr>
      <p:grpSpPr>
        <a:xfrm>
          <a:off x="0" y="0"/>
          <a:ext cx="0" cy="0"/>
          <a:chOff x="0" y="0"/>
          <a:chExt cx="0" cy="0"/>
        </a:xfrm>
      </p:grpSpPr>
      <p:sp>
        <p:nvSpPr>
          <p:cNvPr id="103" name="Google Shape;103;p29"/>
          <p:cNvSpPr txBox="1">
            <a:spLocks noGrp="1"/>
          </p:cNvSpPr>
          <p:nvPr>
            <p:ph type="title"/>
          </p:nvPr>
        </p:nvSpPr>
        <p:spPr>
          <a:xfrm>
            <a:off x="2895600" y="761999"/>
            <a:ext cx="8610599" cy="1303867"/>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4" name="Google Shape;104;p29"/>
          <p:cNvSpPr txBox="1">
            <a:spLocks noGrp="1"/>
          </p:cNvSpPr>
          <p:nvPr>
            <p:ph type="body" idx="1"/>
          </p:nvPr>
        </p:nvSpPr>
        <p:spPr>
          <a:xfrm>
            <a:off x="685800" y="2202080"/>
            <a:ext cx="3456432" cy="617320"/>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05" name="Google Shape;105;p29"/>
          <p:cNvSpPr txBox="1">
            <a:spLocks noGrp="1"/>
          </p:cNvSpPr>
          <p:nvPr>
            <p:ph type="body" idx="2"/>
          </p:nvPr>
        </p:nvSpPr>
        <p:spPr>
          <a:xfrm>
            <a:off x="685799" y="2904565"/>
            <a:ext cx="3456432" cy="3314132"/>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06" name="Google Shape;106;p29"/>
          <p:cNvSpPr txBox="1">
            <a:spLocks noGrp="1"/>
          </p:cNvSpPr>
          <p:nvPr>
            <p:ph type="body" idx="3"/>
          </p:nvPr>
        </p:nvSpPr>
        <p:spPr>
          <a:xfrm>
            <a:off x="4368800" y="2201333"/>
            <a:ext cx="3456432" cy="626534"/>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07" name="Google Shape;107;p29"/>
          <p:cNvSpPr txBox="1">
            <a:spLocks noGrp="1"/>
          </p:cNvSpPr>
          <p:nvPr>
            <p:ph type="body" idx="4"/>
          </p:nvPr>
        </p:nvSpPr>
        <p:spPr>
          <a:xfrm>
            <a:off x="4366858" y="2904067"/>
            <a:ext cx="3456432" cy="331461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08" name="Google Shape;108;p29"/>
          <p:cNvSpPr txBox="1">
            <a:spLocks noGrp="1"/>
          </p:cNvSpPr>
          <p:nvPr>
            <p:ph type="body" idx="5"/>
          </p:nvPr>
        </p:nvSpPr>
        <p:spPr>
          <a:xfrm>
            <a:off x="8051800" y="2192866"/>
            <a:ext cx="3456432" cy="626534"/>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09" name="Google Shape;109;p29"/>
          <p:cNvSpPr txBox="1">
            <a:spLocks noGrp="1"/>
          </p:cNvSpPr>
          <p:nvPr>
            <p:ph type="body" idx="6"/>
          </p:nvPr>
        </p:nvSpPr>
        <p:spPr>
          <a:xfrm>
            <a:off x="8051801" y="2904565"/>
            <a:ext cx="3456432" cy="3314132"/>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10" name="Google Shape;110;p29"/>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1" name="Google Shape;111;p29"/>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2" name="Google Shape;112;p29"/>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3 Picture Column">
  <p:cSld name="3 Picture Column">
    <p:spTree>
      <p:nvGrpSpPr>
        <p:cNvPr id="1" name="Shape 113"/>
        <p:cNvGrpSpPr/>
        <p:nvPr/>
      </p:nvGrpSpPr>
      <p:grpSpPr>
        <a:xfrm>
          <a:off x="0" y="0"/>
          <a:ext cx="0" cy="0"/>
          <a:chOff x="0" y="0"/>
          <a:chExt cx="0" cy="0"/>
        </a:xfrm>
      </p:grpSpPr>
      <p:sp>
        <p:nvSpPr>
          <p:cNvPr id="114" name="Google Shape;114;p30"/>
          <p:cNvSpPr txBox="1">
            <a:spLocks noGrp="1"/>
          </p:cNvSpPr>
          <p:nvPr>
            <p:ph type="title"/>
          </p:nvPr>
        </p:nvSpPr>
        <p:spPr>
          <a:xfrm>
            <a:off x="2895600" y="762000"/>
            <a:ext cx="8610599" cy="12954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5" name="Google Shape;115;p30"/>
          <p:cNvSpPr txBox="1">
            <a:spLocks noGrp="1"/>
          </p:cNvSpPr>
          <p:nvPr>
            <p:ph type="body" idx="1"/>
          </p:nvPr>
        </p:nvSpPr>
        <p:spPr>
          <a:xfrm>
            <a:off x="688618" y="4191000"/>
            <a:ext cx="3451582" cy="682765"/>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16" name="Google Shape;116;p30"/>
          <p:cNvSpPr>
            <a:spLocks noGrp="1"/>
          </p:cNvSpPr>
          <p:nvPr>
            <p:ph type="pic" idx="2"/>
          </p:nvPr>
        </p:nvSpPr>
        <p:spPr>
          <a:xfrm>
            <a:off x="688618" y="2362200"/>
            <a:ext cx="3451582" cy="1524000"/>
          </a:xfrm>
          <a:prstGeom prst="roundRect">
            <a:avLst>
              <a:gd name="adj" fmla="val 0"/>
            </a:avLst>
          </a:prstGeom>
          <a:noFill/>
          <a:ln>
            <a:noFill/>
          </a:ln>
          <a:effectLst>
            <a:outerShdw blurRad="50800" dist="50800" dir="5400000" algn="tl" rotWithShape="0">
              <a:srgbClr val="000000">
                <a:alpha val="41960"/>
              </a:srgbClr>
            </a:outerShdw>
          </a:effectLst>
        </p:spPr>
        <p:txBody>
          <a:bodyPr spcFirstLastPara="1" wrap="square" lIns="91425" tIns="45700" rIns="91425" bIns="45700" anchor="t" anchorCtr="0">
            <a:normAutofit/>
          </a:bodyPr>
          <a:lstStyle>
            <a:lvl1pPr marR="0" lvl="0" algn="ctr" rtl="0">
              <a:lnSpc>
                <a:spcPct val="90000"/>
              </a:lnSpc>
              <a:spcBef>
                <a:spcPts val="10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1pPr>
            <a:lvl2pPr marR="0" lvl="1"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2pPr>
            <a:lvl3pPr marR="0" lvl="2"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3pPr>
            <a:lvl4pPr marR="0" lvl="3"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4pPr>
            <a:lvl5pPr marR="0" lvl="4"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5pPr>
            <a:lvl6pPr marR="0" lvl="5"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6pPr>
            <a:lvl7pPr marR="0" lvl="6"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7pPr>
            <a:lvl8pPr marR="0" lvl="7"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8pPr>
            <a:lvl9pPr marR="0" lvl="8"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9pPr>
          </a:lstStyle>
          <a:p>
            <a:endParaRPr/>
          </a:p>
        </p:txBody>
      </p:sp>
      <p:sp>
        <p:nvSpPr>
          <p:cNvPr id="117" name="Google Shape;117;p30"/>
          <p:cNvSpPr txBox="1">
            <a:spLocks noGrp="1"/>
          </p:cNvSpPr>
          <p:nvPr>
            <p:ph type="body" idx="3"/>
          </p:nvPr>
        </p:nvSpPr>
        <p:spPr>
          <a:xfrm>
            <a:off x="688618" y="4873764"/>
            <a:ext cx="3451582" cy="1344921"/>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18" name="Google Shape;118;p30"/>
          <p:cNvSpPr txBox="1">
            <a:spLocks noGrp="1"/>
          </p:cNvSpPr>
          <p:nvPr>
            <p:ph type="body" idx="4"/>
          </p:nvPr>
        </p:nvSpPr>
        <p:spPr>
          <a:xfrm>
            <a:off x="4374263" y="4191000"/>
            <a:ext cx="3448935" cy="682765"/>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19" name="Google Shape;119;p30"/>
          <p:cNvSpPr>
            <a:spLocks noGrp="1"/>
          </p:cNvSpPr>
          <p:nvPr>
            <p:ph type="pic" idx="5"/>
          </p:nvPr>
        </p:nvSpPr>
        <p:spPr>
          <a:xfrm>
            <a:off x="4374263" y="2362200"/>
            <a:ext cx="3448936" cy="1524000"/>
          </a:xfrm>
          <a:prstGeom prst="roundRect">
            <a:avLst>
              <a:gd name="adj" fmla="val 0"/>
            </a:avLst>
          </a:prstGeom>
          <a:noFill/>
          <a:ln>
            <a:noFill/>
          </a:ln>
          <a:effectLst>
            <a:outerShdw blurRad="50800" dist="50800" dir="5400000" algn="tl" rotWithShape="0">
              <a:srgbClr val="000000">
                <a:alpha val="41960"/>
              </a:srgbClr>
            </a:outerShdw>
          </a:effectLst>
        </p:spPr>
        <p:txBody>
          <a:bodyPr spcFirstLastPara="1" wrap="square" lIns="91425" tIns="45700" rIns="91425" bIns="45700" anchor="t" anchorCtr="0">
            <a:normAutofit/>
          </a:bodyPr>
          <a:lstStyle>
            <a:lvl1pPr marR="0" lvl="0" algn="ctr" rtl="0">
              <a:lnSpc>
                <a:spcPct val="90000"/>
              </a:lnSpc>
              <a:spcBef>
                <a:spcPts val="10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1pPr>
            <a:lvl2pPr marR="0" lvl="1"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2pPr>
            <a:lvl3pPr marR="0" lvl="2"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3pPr>
            <a:lvl4pPr marR="0" lvl="3"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4pPr>
            <a:lvl5pPr marR="0" lvl="4"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5pPr>
            <a:lvl6pPr marR="0" lvl="5"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6pPr>
            <a:lvl7pPr marR="0" lvl="6"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7pPr>
            <a:lvl8pPr marR="0" lvl="7"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8pPr>
            <a:lvl9pPr marR="0" lvl="8"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9pPr>
          </a:lstStyle>
          <a:p>
            <a:endParaRPr/>
          </a:p>
        </p:txBody>
      </p:sp>
      <p:sp>
        <p:nvSpPr>
          <p:cNvPr id="120" name="Google Shape;120;p30"/>
          <p:cNvSpPr txBox="1">
            <a:spLocks noGrp="1"/>
          </p:cNvSpPr>
          <p:nvPr>
            <p:ph type="body" idx="6"/>
          </p:nvPr>
        </p:nvSpPr>
        <p:spPr>
          <a:xfrm>
            <a:off x="4374264" y="4873763"/>
            <a:ext cx="3448935" cy="1344921"/>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21" name="Google Shape;121;p30"/>
          <p:cNvSpPr txBox="1">
            <a:spLocks noGrp="1"/>
          </p:cNvSpPr>
          <p:nvPr>
            <p:ph type="body" idx="7"/>
          </p:nvPr>
        </p:nvSpPr>
        <p:spPr>
          <a:xfrm>
            <a:off x="8049731" y="4191000"/>
            <a:ext cx="3456469" cy="682765"/>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22" name="Google Shape;122;p30"/>
          <p:cNvSpPr>
            <a:spLocks noGrp="1"/>
          </p:cNvSpPr>
          <p:nvPr>
            <p:ph type="pic" idx="8"/>
          </p:nvPr>
        </p:nvSpPr>
        <p:spPr>
          <a:xfrm>
            <a:off x="8049855" y="2362200"/>
            <a:ext cx="3447878" cy="1524000"/>
          </a:xfrm>
          <a:prstGeom prst="roundRect">
            <a:avLst>
              <a:gd name="adj" fmla="val 0"/>
            </a:avLst>
          </a:prstGeom>
          <a:noFill/>
          <a:ln>
            <a:noFill/>
          </a:ln>
          <a:effectLst>
            <a:outerShdw blurRad="50800" dist="50800" dir="5400000" algn="tl" rotWithShape="0">
              <a:srgbClr val="000000">
                <a:alpha val="41960"/>
              </a:srgbClr>
            </a:outerShdw>
          </a:effectLst>
        </p:spPr>
        <p:txBody>
          <a:bodyPr spcFirstLastPara="1" wrap="square" lIns="91425" tIns="45700" rIns="91425" bIns="45700" anchor="t" anchorCtr="0">
            <a:normAutofit/>
          </a:bodyPr>
          <a:lstStyle>
            <a:lvl1pPr marR="0" lvl="0" algn="ctr" rtl="0">
              <a:lnSpc>
                <a:spcPct val="90000"/>
              </a:lnSpc>
              <a:spcBef>
                <a:spcPts val="10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1pPr>
            <a:lvl2pPr marR="0" lvl="1"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2pPr>
            <a:lvl3pPr marR="0" lvl="2"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3pPr>
            <a:lvl4pPr marR="0" lvl="3"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4pPr>
            <a:lvl5pPr marR="0" lvl="4"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5pPr>
            <a:lvl6pPr marR="0" lvl="5"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6pPr>
            <a:lvl7pPr marR="0" lvl="6"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7pPr>
            <a:lvl8pPr marR="0" lvl="7"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8pPr>
            <a:lvl9pPr marR="0" lvl="8"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9pPr>
          </a:lstStyle>
          <a:p>
            <a:endParaRPr/>
          </a:p>
        </p:txBody>
      </p:sp>
      <p:sp>
        <p:nvSpPr>
          <p:cNvPr id="123" name="Google Shape;123;p30"/>
          <p:cNvSpPr txBox="1">
            <a:spLocks noGrp="1"/>
          </p:cNvSpPr>
          <p:nvPr>
            <p:ph type="body" idx="9"/>
          </p:nvPr>
        </p:nvSpPr>
        <p:spPr>
          <a:xfrm>
            <a:off x="8049731" y="4873761"/>
            <a:ext cx="3452445" cy="1344921"/>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24" name="Google Shape;124;p30"/>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5" name="Google Shape;125;p30"/>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6" name="Google Shape;126;p30"/>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127"/>
        <p:cNvGrpSpPr/>
        <p:nvPr/>
      </p:nvGrpSpPr>
      <p:grpSpPr>
        <a:xfrm>
          <a:off x="0" y="0"/>
          <a:ext cx="0" cy="0"/>
          <a:chOff x="0" y="0"/>
          <a:chExt cx="0" cy="0"/>
        </a:xfrm>
      </p:grpSpPr>
      <p:sp>
        <p:nvSpPr>
          <p:cNvPr id="128" name="Google Shape;128;p31"/>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9" name="Google Shape;129;p31"/>
          <p:cNvSpPr txBox="1">
            <a:spLocks noGrp="1"/>
          </p:cNvSpPr>
          <p:nvPr>
            <p:ph type="body" idx="1"/>
          </p:nvPr>
        </p:nvSpPr>
        <p:spPr>
          <a:xfrm rot="5400000">
            <a:off x="4083937" y="-1203579"/>
            <a:ext cx="4024125" cy="108204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130" name="Google Shape;130;p31"/>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1" name="Google Shape;131;p31"/>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2" name="Google Shape;132;p31"/>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matchingName="Vertical Title and Text" type="vertTitleAndTx">
  <p:cSld name="VERTICAL_TITLE_AND_VERTICAL_TEXT">
    <p:spTree>
      <p:nvGrpSpPr>
        <p:cNvPr id="1" name="Shape 133"/>
        <p:cNvGrpSpPr/>
        <p:nvPr/>
      </p:nvGrpSpPr>
      <p:grpSpPr>
        <a:xfrm>
          <a:off x="0" y="0"/>
          <a:ext cx="0" cy="0"/>
          <a:chOff x="0" y="0"/>
          <a:chExt cx="0" cy="0"/>
        </a:xfrm>
      </p:grpSpPr>
      <p:pic>
        <p:nvPicPr>
          <p:cNvPr id="134" name="Google Shape;134;p32" descr="C0-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135" name="Google Shape;135;p32"/>
          <p:cNvSpPr txBox="1">
            <a:spLocks noGrp="1"/>
          </p:cNvSpPr>
          <p:nvPr>
            <p:ph type="title"/>
          </p:nvPr>
        </p:nvSpPr>
        <p:spPr>
          <a:xfrm rot="5400000">
            <a:off x="8525933" y="1667933"/>
            <a:ext cx="3903133" cy="20574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4000"/>
              <a:buFont typeface="Century Gothic"/>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6" name="Google Shape;136;p32"/>
          <p:cNvSpPr txBox="1">
            <a:spLocks noGrp="1"/>
          </p:cNvSpPr>
          <p:nvPr>
            <p:ph type="body" idx="1"/>
          </p:nvPr>
        </p:nvSpPr>
        <p:spPr>
          <a:xfrm rot="5400000">
            <a:off x="3175000" y="-1405467"/>
            <a:ext cx="3903133" cy="8204201"/>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137" name="Google Shape;137;p32"/>
          <p:cNvSpPr txBox="1">
            <a:spLocks noGrp="1"/>
          </p:cNvSpPr>
          <p:nvPr>
            <p:ph type="dt" idx="10"/>
          </p:nvPr>
        </p:nvSpPr>
        <p:spPr>
          <a:xfrm>
            <a:off x="7814452" y="379941"/>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8" name="Google Shape;138;p32"/>
          <p:cNvSpPr txBox="1">
            <a:spLocks noGrp="1"/>
          </p:cNvSpPr>
          <p:nvPr>
            <p:ph type="ftr" idx="11"/>
          </p:nvPr>
        </p:nvSpPr>
        <p:spPr>
          <a:xfrm>
            <a:off x="685800" y="381000"/>
            <a:ext cx="6991492"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9" name="Google Shape;139;p32"/>
          <p:cNvSpPr txBox="1">
            <a:spLocks noGrp="1"/>
          </p:cNvSpPr>
          <p:nvPr>
            <p:ph type="sldNum" idx="12"/>
          </p:nvPr>
        </p:nvSpPr>
        <p:spPr>
          <a:xfrm>
            <a:off x="10862452" y="381000"/>
            <a:ext cx="643748"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5"/>
        <p:cNvGrpSpPr/>
        <p:nvPr/>
      </p:nvGrpSpPr>
      <p:grpSpPr>
        <a:xfrm>
          <a:off x="0" y="0"/>
          <a:ext cx="0" cy="0"/>
          <a:chOff x="0" y="0"/>
          <a:chExt cx="0" cy="0"/>
        </a:xfrm>
      </p:grpSpPr>
      <p:pic>
        <p:nvPicPr>
          <p:cNvPr id="6" name="Google Shape;6;p15" descr="C0-HD-TOP.png"/>
          <p:cNvPicPr preferRelativeResize="0"/>
          <p:nvPr/>
        </p:nvPicPr>
        <p:blipFill rotWithShape="1">
          <a:blip r:embed="rId19">
            <a:alphaModFix/>
          </a:blip>
          <a:srcRect/>
          <a:stretch/>
        </p:blipFill>
        <p:spPr>
          <a:xfrm>
            <a:off x="0" y="0"/>
            <a:ext cx="12192000" cy="1441450"/>
          </a:xfrm>
          <a:prstGeom prst="rect">
            <a:avLst/>
          </a:prstGeom>
          <a:noFill/>
          <a:ln>
            <a:noFill/>
          </a:ln>
        </p:spPr>
      </p:pic>
      <p:sp>
        <p:nvSpPr>
          <p:cNvPr id="7" name="Google Shape;7;p15"/>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lvl1pPr marR="0" lvl="0" algn="r" rtl="0">
              <a:lnSpc>
                <a:spcPct val="90000"/>
              </a:lnSpc>
              <a:spcBef>
                <a:spcPts val="0"/>
              </a:spcBef>
              <a:spcAft>
                <a:spcPts val="0"/>
              </a:spcAft>
              <a:buClr>
                <a:schemeClr val="lt1"/>
              </a:buClr>
              <a:buSzPts val="4000"/>
              <a:buFont typeface="Century Gothic"/>
              <a:buNone/>
              <a:defRPr sz="4000" b="0" i="0" u="none" strike="noStrike" cap="none">
                <a:solidFill>
                  <a:schemeClr val="lt1"/>
                </a:solidFill>
                <a:latin typeface="Century Gothic"/>
                <a:ea typeface="Century Gothic"/>
                <a:cs typeface="Century Gothic"/>
                <a:sym typeface="Century Gothic"/>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8" name="Google Shape;8;p15"/>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lvl1pPr marL="457200" marR="0" lvl="0" indent="-368300" algn="l" rtl="0">
              <a:lnSpc>
                <a:spcPct val="90000"/>
              </a:lnSpc>
              <a:spcBef>
                <a:spcPts val="1000"/>
              </a:spcBef>
              <a:spcAft>
                <a:spcPts val="0"/>
              </a:spcAft>
              <a:buClr>
                <a:schemeClr val="lt1"/>
              </a:buClr>
              <a:buSzPts val="2200"/>
              <a:buFont typeface="Arial"/>
              <a:buChar char="•"/>
              <a:defRPr sz="2200" b="0" i="0" u="none" strike="noStrike" cap="none">
                <a:solidFill>
                  <a:schemeClr val="lt1"/>
                </a:solidFill>
                <a:latin typeface="Century Gothic"/>
                <a:ea typeface="Century Gothic"/>
                <a:cs typeface="Century Gothic"/>
                <a:sym typeface="Century Gothic"/>
              </a:defRPr>
            </a:lvl1pPr>
            <a:lvl2pPr marL="914400" marR="0" lvl="1" indent="-355600" algn="l" rtl="0">
              <a:lnSpc>
                <a:spcPct val="90000"/>
              </a:lnSpc>
              <a:spcBef>
                <a:spcPts val="500"/>
              </a:spcBef>
              <a:spcAft>
                <a:spcPts val="0"/>
              </a:spcAft>
              <a:buClr>
                <a:schemeClr val="lt1"/>
              </a:buClr>
              <a:buSzPts val="2000"/>
              <a:buFont typeface="Arial"/>
              <a:buChar char="•"/>
              <a:defRPr sz="2000" b="0" i="0" u="none" strike="noStrike" cap="none">
                <a:solidFill>
                  <a:schemeClr val="lt1"/>
                </a:solidFill>
                <a:latin typeface="Century Gothic"/>
                <a:ea typeface="Century Gothic"/>
                <a:cs typeface="Century Gothic"/>
                <a:sym typeface="Century Gothic"/>
              </a:defRPr>
            </a:lvl2pPr>
            <a:lvl3pPr marL="1371600" marR="0" lvl="2" indent="-342900"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Century Gothic"/>
                <a:ea typeface="Century Gothic"/>
                <a:cs typeface="Century Gothic"/>
                <a:sym typeface="Century Gothic"/>
              </a:defRPr>
            </a:lvl3pPr>
            <a:lvl4pPr marL="1828800" marR="0" lvl="3"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sym typeface="Century Gothic"/>
              </a:defRPr>
            </a:lvl4pPr>
            <a:lvl5pPr marL="2286000" marR="0" lvl="4"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sym typeface="Century Gothic"/>
              </a:defRPr>
            </a:lvl5pPr>
            <a:lvl6pPr marL="2743200" marR="0" lvl="5"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sym typeface="Century Gothic"/>
              </a:defRPr>
            </a:lvl6pPr>
            <a:lvl7pPr marL="3200400" marR="0" lvl="6"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sym typeface="Century Gothic"/>
              </a:defRPr>
            </a:lvl7pPr>
            <a:lvl8pPr marL="3657600" marR="0" lvl="7"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sym typeface="Century Gothic"/>
              </a:defRPr>
            </a:lvl8pPr>
            <a:lvl9pPr marL="4114800" marR="0" lvl="8"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sym typeface="Century Gothic"/>
              </a:defRPr>
            </a:lvl9pPr>
          </a:lstStyle>
          <a:p>
            <a:endParaRPr/>
          </a:p>
        </p:txBody>
      </p:sp>
      <p:sp>
        <p:nvSpPr>
          <p:cNvPr id="9" name="Google Shape;9;p15"/>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marR="0" lvl="0" algn="r" rtl="0">
              <a:lnSpc>
                <a:spcPct val="100000"/>
              </a:lnSpc>
              <a:spcBef>
                <a:spcPts val="0"/>
              </a:spcBef>
              <a:spcAft>
                <a:spcPts val="0"/>
              </a:spcAft>
              <a:buClr>
                <a:srgbClr val="000000"/>
              </a:buClr>
              <a:buSzPts val="1400"/>
              <a:buFont typeface="Arial"/>
              <a:buNone/>
              <a:defRPr sz="1050" b="0" i="0" u="none" strike="noStrike" cap="none">
                <a:solidFill>
                  <a:schemeClr val="lt1"/>
                </a:solidFill>
                <a:latin typeface="Century Gothic"/>
                <a:ea typeface="Century Gothic"/>
                <a:cs typeface="Century Gothic"/>
                <a:sym typeface="Century Gothic"/>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9pPr>
          </a:lstStyle>
          <a:p>
            <a:endParaRPr/>
          </a:p>
        </p:txBody>
      </p:sp>
      <p:sp>
        <p:nvSpPr>
          <p:cNvPr id="10" name="Google Shape;10;p15"/>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050" b="0" i="0" u="none" strike="noStrike" cap="none">
                <a:solidFill>
                  <a:schemeClr val="lt1"/>
                </a:solidFill>
                <a:latin typeface="Century Gothic"/>
                <a:ea typeface="Century Gothic"/>
                <a:cs typeface="Century Gothic"/>
                <a:sym typeface="Century Gothic"/>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9pPr>
          </a:lstStyle>
          <a:p>
            <a:endParaRPr/>
          </a:p>
        </p:txBody>
      </p:sp>
      <p:sp>
        <p:nvSpPr>
          <p:cNvPr id="11" name="Google Shape;11;p15"/>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audio" Target="../media/media1.m4a"/><Relationship Id="rId7" Type="http://schemas.openxmlformats.org/officeDocument/2006/relationships/image" Target="../media/image4.png"/><Relationship Id="rId2" Type="http://schemas.microsoft.com/office/2007/relationships/media" Target="../media/media1.m4a"/><Relationship Id="rId1" Type="http://schemas.openxmlformats.org/officeDocument/2006/relationships/tags" Target="../tags/tag2.xml"/><Relationship Id="rId6" Type="http://schemas.openxmlformats.org/officeDocument/2006/relationships/image" Target="../media/image3.png"/><Relationship Id="rId5" Type="http://schemas.openxmlformats.org/officeDocument/2006/relationships/notesSlide" Target="../notesSlides/notesSlide1.xml"/><Relationship Id="rId4"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audio" Target="../media/media2.m4a"/><Relationship Id="rId7" Type="http://schemas.openxmlformats.org/officeDocument/2006/relationships/image" Target="../media/image3.png"/><Relationship Id="rId2" Type="http://schemas.microsoft.com/office/2007/relationships/media" Target="../media/media2.m4a"/><Relationship Id="rId1" Type="http://schemas.openxmlformats.org/officeDocument/2006/relationships/tags" Target="../tags/tag3.xml"/><Relationship Id="rId6" Type="http://schemas.openxmlformats.org/officeDocument/2006/relationships/image" Target="../media/image5.png"/><Relationship Id="rId5" Type="http://schemas.openxmlformats.org/officeDocument/2006/relationships/notesSlide" Target="../notesSlides/notesSlide2.xml"/><Relationship Id="rId4"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audio" Target="../media/media3.m4a"/><Relationship Id="rId7" Type="http://schemas.openxmlformats.org/officeDocument/2006/relationships/image" Target="../media/image4.png"/><Relationship Id="rId2" Type="http://schemas.microsoft.com/office/2007/relationships/media" Target="../media/media3.m4a"/><Relationship Id="rId1" Type="http://schemas.openxmlformats.org/officeDocument/2006/relationships/tags" Target="../tags/tag4.xml"/><Relationship Id="rId6" Type="http://schemas.openxmlformats.org/officeDocument/2006/relationships/image" Target="../media/image3.png"/><Relationship Id="rId5" Type="http://schemas.openxmlformats.org/officeDocument/2006/relationships/notesSlide" Target="../notesSlides/notesSlide3.xml"/><Relationship Id="rId4"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audio" Target="../media/media4.m4a"/><Relationship Id="rId7" Type="http://schemas.openxmlformats.org/officeDocument/2006/relationships/image" Target="../media/image4.png"/><Relationship Id="rId2" Type="http://schemas.microsoft.com/office/2007/relationships/media" Target="../media/media4.m4a"/><Relationship Id="rId1" Type="http://schemas.openxmlformats.org/officeDocument/2006/relationships/tags" Target="../tags/tag5.xml"/><Relationship Id="rId6" Type="http://schemas.openxmlformats.org/officeDocument/2006/relationships/image" Target="../media/image3.png"/><Relationship Id="rId5" Type="http://schemas.openxmlformats.org/officeDocument/2006/relationships/notesSlide" Target="../notesSlides/notesSlide4.xml"/><Relationship Id="rId4"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audio" Target="../media/media5.m4a"/><Relationship Id="rId7" Type="http://schemas.openxmlformats.org/officeDocument/2006/relationships/image" Target="../media/image4.png"/><Relationship Id="rId2" Type="http://schemas.microsoft.com/office/2007/relationships/media" Target="../media/media5.m4a"/><Relationship Id="rId1" Type="http://schemas.openxmlformats.org/officeDocument/2006/relationships/tags" Target="../tags/tag6.xml"/><Relationship Id="rId6" Type="http://schemas.openxmlformats.org/officeDocument/2006/relationships/image" Target="../media/image3.png"/><Relationship Id="rId5" Type="http://schemas.openxmlformats.org/officeDocument/2006/relationships/notesSlide" Target="../notesSlides/notesSlide5.xml"/><Relationship Id="rId4"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audio" Target="../media/media6.m4a"/><Relationship Id="rId7" Type="http://schemas.openxmlformats.org/officeDocument/2006/relationships/image" Target="../media/image4.png"/><Relationship Id="rId2" Type="http://schemas.microsoft.com/office/2007/relationships/media" Target="../media/media6.m4a"/><Relationship Id="rId1" Type="http://schemas.openxmlformats.org/officeDocument/2006/relationships/tags" Target="../tags/tag7.xml"/><Relationship Id="rId6" Type="http://schemas.openxmlformats.org/officeDocument/2006/relationships/image" Target="../media/image3.png"/><Relationship Id="rId5" Type="http://schemas.openxmlformats.org/officeDocument/2006/relationships/notesSlide" Target="../notesSlides/notesSlide6.xml"/><Relationship Id="rId4"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audio" Target="../media/media7.m4a"/><Relationship Id="rId7" Type="http://schemas.openxmlformats.org/officeDocument/2006/relationships/image" Target="../media/image4.png"/><Relationship Id="rId2" Type="http://schemas.microsoft.com/office/2007/relationships/media" Target="../media/media7.m4a"/><Relationship Id="rId1" Type="http://schemas.openxmlformats.org/officeDocument/2006/relationships/tags" Target="../tags/tag8.xml"/><Relationship Id="rId6" Type="http://schemas.openxmlformats.org/officeDocument/2006/relationships/image" Target="../media/image3.png"/><Relationship Id="rId5" Type="http://schemas.openxmlformats.org/officeDocument/2006/relationships/notesSlide" Target="../notesSlides/notesSlide7.xml"/><Relationship Id="rId4"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audio" Target="../media/media8.m4a"/><Relationship Id="rId7" Type="http://schemas.openxmlformats.org/officeDocument/2006/relationships/image" Target="../media/image4.png"/><Relationship Id="rId2" Type="http://schemas.microsoft.com/office/2007/relationships/media" Target="../media/media8.m4a"/><Relationship Id="rId1" Type="http://schemas.openxmlformats.org/officeDocument/2006/relationships/tags" Target="../tags/tag9.xml"/><Relationship Id="rId6" Type="http://schemas.openxmlformats.org/officeDocument/2006/relationships/image" Target="../media/image3.png"/><Relationship Id="rId5" Type="http://schemas.openxmlformats.org/officeDocument/2006/relationships/notesSlide" Target="../notesSlides/notesSlide8.xml"/><Relationship Id="rId4"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audio" Target="../media/media9.m4a"/><Relationship Id="rId7" Type="http://schemas.openxmlformats.org/officeDocument/2006/relationships/image" Target="../media/image3.png"/><Relationship Id="rId2" Type="http://schemas.microsoft.com/office/2007/relationships/media" Target="../media/media9.m4a"/><Relationship Id="rId1" Type="http://schemas.openxmlformats.org/officeDocument/2006/relationships/tags" Target="../tags/tag10.xml"/><Relationship Id="rId6" Type="http://schemas.openxmlformats.org/officeDocument/2006/relationships/image" Target="../media/image6.png"/><Relationship Id="rId5" Type="http://schemas.openxmlformats.org/officeDocument/2006/relationships/notesSlide" Target="../notesSlides/notesSlide9.xml"/><Relationship Id="rId4"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audio" Target="../media/media10.m4a"/><Relationship Id="rId7" Type="http://schemas.openxmlformats.org/officeDocument/2006/relationships/image" Target="../media/image4.png"/><Relationship Id="rId2" Type="http://schemas.microsoft.com/office/2007/relationships/media" Target="../media/media10.m4a"/><Relationship Id="rId1" Type="http://schemas.openxmlformats.org/officeDocument/2006/relationships/tags" Target="../tags/tag11.xml"/><Relationship Id="rId6" Type="http://schemas.openxmlformats.org/officeDocument/2006/relationships/image" Target="../media/image3.png"/><Relationship Id="rId5" Type="http://schemas.openxmlformats.org/officeDocument/2006/relationships/notesSlide" Target="../notesSlides/notesSlide10.xml"/><Relationship Id="rId4"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audio" Target="../media/media11.m4a"/><Relationship Id="rId7" Type="http://schemas.openxmlformats.org/officeDocument/2006/relationships/image" Target="../media/image4.png"/><Relationship Id="rId2" Type="http://schemas.microsoft.com/office/2007/relationships/media" Target="../media/media11.m4a"/><Relationship Id="rId1" Type="http://schemas.openxmlformats.org/officeDocument/2006/relationships/tags" Target="../tags/tag12.xml"/><Relationship Id="rId6" Type="http://schemas.openxmlformats.org/officeDocument/2006/relationships/image" Target="../media/image3.png"/><Relationship Id="rId5" Type="http://schemas.openxmlformats.org/officeDocument/2006/relationships/notesSlide" Target="../notesSlides/notesSlide11.xml"/><Relationship Id="rId4"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audio" Target="../media/media12.m4a"/><Relationship Id="rId7" Type="http://schemas.openxmlformats.org/officeDocument/2006/relationships/image" Target="../media/image4.png"/><Relationship Id="rId2" Type="http://schemas.microsoft.com/office/2007/relationships/media" Target="../media/media12.m4a"/><Relationship Id="rId1" Type="http://schemas.openxmlformats.org/officeDocument/2006/relationships/tags" Target="../tags/tag13.xml"/><Relationship Id="rId6" Type="http://schemas.openxmlformats.org/officeDocument/2006/relationships/image" Target="../media/image3.png"/><Relationship Id="rId5" Type="http://schemas.openxmlformats.org/officeDocument/2006/relationships/notesSlide" Target="../notesSlides/notesSlide12.xml"/><Relationship Id="rId4"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audio" Target="../media/media13.m4a"/><Relationship Id="rId7" Type="http://schemas.openxmlformats.org/officeDocument/2006/relationships/image" Target="../media/image4.png"/><Relationship Id="rId2" Type="http://schemas.microsoft.com/office/2007/relationships/media" Target="../media/media13.m4a"/><Relationship Id="rId1" Type="http://schemas.openxmlformats.org/officeDocument/2006/relationships/tags" Target="../tags/tag14.xml"/><Relationship Id="rId6" Type="http://schemas.openxmlformats.org/officeDocument/2006/relationships/image" Target="../media/image3.png"/><Relationship Id="rId5" Type="http://schemas.openxmlformats.org/officeDocument/2006/relationships/notesSlide" Target="../notesSlides/notesSlide13.xml"/><Relationship Id="rId4"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audio" Target="../media/media14.m4a"/><Relationship Id="rId7" Type="http://schemas.openxmlformats.org/officeDocument/2006/relationships/image" Target="../media/image4.png"/><Relationship Id="rId2" Type="http://schemas.microsoft.com/office/2007/relationships/media" Target="../media/media14.m4a"/><Relationship Id="rId1" Type="http://schemas.openxmlformats.org/officeDocument/2006/relationships/tags" Target="../tags/tag15.xml"/><Relationship Id="rId6" Type="http://schemas.openxmlformats.org/officeDocument/2006/relationships/image" Target="../media/image3.png"/><Relationship Id="rId5" Type="http://schemas.openxmlformats.org/officeDocument/2006/relationships/notesSlide" Target="../notesSlides/notesSlide14.xml"/><Relationship Id="rId4"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audio" Target="../media/media15.m4a"/><Relationship Id="rId1" Type="http://schemas.microsoft.com/office/2007/relationships/media" Target="../media/media15.m4a"/><Relationship Id="rId6" Type="http://schemas.openxmlformats.org/officeDocument/2006/relationships/image" Target="../media/image4.png"/><Relationship Id="rId5" Type="http://schemas.openxmlformats.org/officeDocument/2006/relationships/image" Target="../media/image7.png"/><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6.m4a"/><Relationship Id="rId1" Type="http://schemas.microsoft.com/office/2007/relationships/media" Target="../media/media16.m4a"/><Relationship Id="rId5" Type="http://schemas.openxmlformats.org/officeDocument/2006/relationships/image" Target="../media/image4.png"/><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audio" Target="../media/media17.m4a"/><Relationship Id="rId1" Type="http://schemas.microsoft.com/office/2007/relationships/media" Target="../media/media17.m4a"/><Relationship Id="rId6" Type="http://schemas.openxmlformats.org/officeDocument/2006/relationships/image" Target="../media/image4.png"/><Relationship Id="rId5" Type="http://schemas.openxmlformats.org/officeDocument/2006/relationships/image" Target="../media/image8.png"/><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audio" Target="../media/media18.m4a"/><Relationship Id="rId1" Type="http://schemas.microsoft.com/office/2007/relationships/media" Target="../media/media18.m4a"/><Relationship Id="rId6" Type="http://schemas.openxmlformats.org/officeDocument/2006/relationships/image" Target="../media/image4.png"/><Relationship Id="rId5" Type="http://schemas.openxmlformats.org/officeDocument/2006/relationships/image" Target="../media/image9.png"/><Relationship Id="rId4"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1"/>
          <p:cNvSpPr txBox="1">
            <a:spLocks noGrp="1"/>
          </p:cNvSpPr>
          <p:nvPr>
            <p:ph type="ctrTitle"/>
          </p:nvPr>
        </p:nvSpPr>
        <p:spPr>
          <a:xfrm>
            <a:off x="1371600" y="1790153"/>
            <a:ext cx="9448800" cy="1825096"/>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chemeClr val="lt1"/>
              </a:buClr>
              <a:buSzPts val="6000"/>
              <a:buFont typeface="Century Gothic"/>
              <a:buNone/>
            </a:pPr>
            <a:r>
              <a:t>Green Pace</a:t>
            </a:r>
          </a:p>
        </p:txBody>
      </p:sp>
      <p:sp>
        <p:nvSpPr>
          <p:cNvPr id="145" name="Google Shape;145;p1"/>
          <p:cNvSpPr txBox="1">
            <a:spLocks noGrp="1"/>
          </p:cNvSpPr>
          <p:nvPr>
            <p:ph type="subTitle" idx="1"/>
          </p:nvPr>
        </p:nvSpPr>
        <p:spPr>
          <a:xfrm>
            <a:off x="1371600" y="3632200"/>
            <a:ext cx="9448800" cy="1561592"/>
          </a:xfrm>
          <a:prstGeom prst="rect">
            <a:avLst/>
          </a:prstGeom>
          <a:noFill/>
          <a:ln>
            <a:noFill/>
          </a:ln>
        </p:spPr>
        <p:txBody>
          <a:bodyPr spcFirstLastPara="1" wrap="square" lIns="91425" tIns="45700" rIns="91425" bIns="45700" anchor="t" anchorCtr="0">
            <a:normAutofit/>
          </a:bodyPr>
          <a:lstStyle/>
          <a:p>
            <a:pPr marL="0" lvl="0" indent="0" algn="l" rtl="0">
              <a:lnSpc>
                <a:spcPct val="70000"/>
              </a:lnSpc>
              <a:spcBef>
                <a:spcPts val="0"/>
              </a:spcBef>
              <a:spcAft>
                <a:spcPts val="0"/>
              </a:spcAft>
              <a:buClr>
                <a:schemeClr val="lt1"/>
              </a:buClr>
              <a:buSzPts val="1850"/>
              <a:buNone/>
            </a:pPr>
            <a:r>
              <a:t>Security Policy Presentation</a:t>
            </a:r>
          </a:p>
          <a:p>
            <a:r>
              <a:t>Developer: Jaden Mericle</a:t>
            </a:r>
          </a:p>
          <a:p>
            <a:r>
              <a:t>CS 405 Project Two</a:t>
            </a:r>
          </a:p>
          <a:p>
            <a:r>
              <a:t>Date: February 22, 2026</a:t>
            </a:r>
          </a:p>
        </p:txBody>
      </p:sp>
      <p:pic>
        <p:nvPicPr>
          <p:cNvPr id="146" name="Google Shape;146;p1" descr="Green Pace logo"/>
          <p:cNvPicPr preferRelativeResize="0"/>
          <p:nvPr/>
        </p:nvPicPr>
        <p:blipFill>
          <a:blip r:embed="rId6">
            <a:alphaModFix/>
          </a:blip>
          <a:stretch>
            <a:fillRect/>
          </a:stretch>
        </p:blipFill>
        <p:spPr>
          <a:xfrm>
            <a:off x="7440774" y="659854"/>
            <a:ext cx="2921424" cy="3786772"/>
          </a:xfrm>
          <a:prstGeom prst="rect">
            <a:avLst/>
          </a:prstGeom>
          <a:noFill/>
          <a:ln>
            <a:noFill/>
          </a:ln>
        </p:spPr>
      </p:pic>
      <p:pic>
        <p:nvPicPr>
          <p:cNvPr id="49" name="Audio 48">
            <a:extLst>
              <a:ext uri="{FF2B5EF4-FFF2-40B4-BE49-F238E27FC236}">
                <a16:creationId xmlns:a16="http://schemas.microsoft.com/office/drawing/2014/main" id="{6FC6F15A-C7D6-29F0-5626-A88B890FC8A3}"/>
              </a:ext>
            </a:extLst>
          </p:cNvPr>
          <p:cNvPicPr>
            <a:picLocks noChangeAspect="1"/>
          </p:cNvPicPr>
          <p:nvPr>
            <a:audioFile r:link="rId3"/>
            <p:extLst>
              <p:ext uri="{DAA4B4D4-6D71-4841-9C94-3DE7FCFB9230}">
                <p14:media xmlns:p14="http://schemas.microsoft.com/office/powerpoint/2010/main" r:embed="rId2"/>
              </p:ext>
            </p:extLst>
          </p:nvPr>
        </p:nvPicPr>
        <p:blipFill>
          <a:blip r:embed="rId7"/>
          <a:stretch>
            <a:fillRect/>
          </a:stretch>
        </p:blipFill>
        <p:spPr>
          <a:xfrm>
            <a:off x="11226800" y="5892800"/>
            <a:ext cx="812800" cy="812800"/>
          </a:xfrm>
          <a:prstGeom prst="rect">
            <a:avLst/>
          </a:prstGeom>
        </p:spPr>
      </p:pic>
    </p:spTree>
    <p:custDataLst>
      <p:tags r:id="rId1"/>
    </p:custDataLst>
  </p:cSld>
  <p:clrMapOvr>
    <a:masterClrMapping/>
  </p:clrMapOvr>
  <mc:AlternateContent xmlns:mc="http://schemas.openxmlformats.org/markup-compatibility/2006">
    <mc:Choice xmlns:p14="http://schemas.microsoft.com/office/powerpoint/2010/main" Requires="p14">
      <p:transition spd="slow" p14:dur="2000" advTm="20160"/>
    </mc:Choice>
    <mc:Fallback>
      <p:transition spd="slow" advTm="2016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49"/>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49"/>
                </p:tgtEl>
              </p:cMediaNode>
            </p:audi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51" name="Google Shape;151;p3"/>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OVERVIEW: DEFENSE IN DEPTH</a:t>
            </a:r>
            <a:endParaRPr/>
          </a:p>
        </p:txBody>
      </p:sp>
      <p:sp>
        <p:nvSpPr>
          <p:cNvPr id="152" name="Google Shape;152;p3"/>
          <p:cNvSpPr txBox="1">
            <a:spLocks noGrp="1"/>
          </p:cNvSpPr>
          <p:nvPr>
            <p:ph type="body" idx="1"/>
          </p:nvPr>
        </p:nvSpPr>
        <p:spPr>
          <a:xfrm>
            <a:off x="-23037" y="1738423"/>
            <a:ext cx="5837274" cy="4651744"/>
          </a:xfrm>
          <a:prstGeom prst="rect">
            <a:avLst/>
          </a:prstGeom>
          <a:noFill/>
          <a:ln>
            <a:noFill/>
          </a:ln>
        </p:spPr>
        <p:txBody>
          <a:bodyPr spcFirstLastPara="1" wrap="square" lIns="91425" tIns="45700" rIns="91425" bIns="45700" anchor="t" anchorCtr="0">
            <a:normAutofit/>
          </a:bodyPr>
          <a:lstStyle/>
          <a:p>
            <a:pPr marL="685800" lvl="0" indent="0" algn="l" rtl="0">
              <a:lnSpc>
                <a:spcPct val="90000"/>
              </a:lnSpc>
              <a:spcBef>
                <a:spcPts val="0"/>
              </a:spcBef>
              <a:spcAft>
                <a:spcPts val="0"/>
              </a:spcAft>
              <a:buSzPts val="1800"/>
              <a:buNone/>
            </a:pPr>
            <a:r>
              <a:rPr dirty="0"/>
              <a:t>Why it was needed: Best practices were happening informally—policy makes them consistent and repeatable.</a:t>
            </a:r>
            <a:endParaRPr sz="1600" dirty="0"/>
          </a:p>
          <a:p>
            <a:r>
              <a:rPr dirty="0"/>
              <a:t>Defense-in-depth: multiple layers across design, code, testing, and operations (not one control).</a:t>
            </a:r>
          </a:p>
          <a:p>
            <a:r>
              <a:rPr dirty="0"/>
              <a:t>Assume vulnerability: plan for mistakes and limit impact when something goes wrong.</a:t>
            </a:r>
          </a:p>
          <a:p>
            <a:r>
              <a:rPr dirty="0"/>
              <a:t>Focus areas: reduce attack surface, enforce secure defaults, and catch issues early with automation.</a:t>
            </a:r>
          </a:p>
        </p:txBody>
      </p:sp>
      <p:pic>
        <p:nvPicPr>
          <p:cNvPr id="153" name="Google Shape;153;p3" descr="NHS (Healthcare) Defense in Depth – Shaun Van Niekerk&#10;Screenshot of defense-in-depth best practice of layered security.  This illustration provides a visual representation of the defense-in-depth best practice of layered security.&#10;Shows the following layers of developer defense: Physical security, Cloud security, Perimeter security, network security, Host security, Endpoint security, APP security and critical assets, systems, and data security."/>
          <p:cNvPicPr preferRelativeResize="0"/>
          <p:nvPr/>
        </p:nvPicPr>
        <p:blipFill rotWithShape="1">
          <a:blip r:embed="rId6">
            <a:alphaModFix/>
          </a:blip>
          <a:srcRect/>
          <a:stretch/>
        </p:blipFill>
        <p:spPr>
          <a:xfrm>
            <a:off x="5709684" y="1593258"/>
            <a:ext cx="6126421" cy="3701756"/>
          </a:xfrm>
          <a:prstGeom prst="rect">
            <a:avLst/>
          </a:prstGeom>
          <a:noFill/>
          <a:ln>
            <a:noFill/>
          </a:ln>
        </p:spPr>
      </p:pic>
      <p:pic>
        <p:nvPicPr>
          <p:cNvPr id="154" name="Google Shape;154;p3" descr="Green Pace logo"/>
          <p:cNvPicPr preferRelativeResize="0"/>
          <p:nvPr/>
        </p:nvPicPr>
        <p:blipFill>
          <a:blip r:embed="rId7">
            <a:alphaModFix/>
          </a:blip>
          <a:stretch>
            <a:fillRect/>
          </a:stretch>
        </p:blipFill>
        <p:spPr>
          <a:xfrm>
            <a:off x="11084074" y="5440526"/>
            <a:ext cx="886601" cy="1149225"/>
          </a:xfrm>
          <a:prstGeom prst="rect">
            <a:avLst/>
          </a:prstGeom>
          <a:noFill/>
          <a:ln>
            <a:noFill/>
          </a:ln>
        </p:spPr>
      </p:pic>
      <p:pic>
        <p:nvPicPr>
          <p:cNvPr id="14" name="Audio 13">
            <a:extLst>
              <a:ext uri="{FF2B5EF4-FFF2-40B4-BE49-F238E27FC236}">
                <a16:creationId xmlns:a16="http://schemas.microsoft.com/office/drawing/2014/main" id="{D0C29664-7551-02A1-D49B-A7C2DBE2EEC6}"/>
              </a:ext>
            </a:extLst>
          </p:cNvPr>
          <p:cNvPicPr>
            <a:picLocks noChangeAspect="1"/>
          </p:cNvPicPr>
          <p:nvPr>
            <a:audioFile r:link="rId3"/>
            <p:extLst>
              <p:ext uri="{DAA4B4D4-6D71-4841-9C94-3DE7FCFB9230}">
                <p14:media xmlns:p14="http://schemas.microsoft.com/office/powerpoint/2010/main" r:embed="rId2"/>
              </p:ext>
            </p:extLst>
          </p:nvPr>
        </p:nvPicPr>
        <p:blipFill>
          <a:blip r:embed="rId8"/>
          <a:stretch>
            <a:fillRect/>
          </a:stretch>
        </p:blipFill>
        <p:spPr>
          <a:xfrm>
            <a:off x="11226800" y="5892800"/>
            <a:ext cx="812800" cy="812800"/>
          </a:xfrm>
          <a:prstGeom prst="rect">
            <a:avLst/>
          </a:prstGeom>
        </p:spPr>
      </p:pic>
    </p:spTree>
    <p:custDataLst>
      <p:tags r:id="rId1"/>
    </p:custDataLst>
  </p:cSld>
  <p:clrMapOvr>
    <a:masterClrMapping/>
  </p:clrMapOvr>
  <mc:AlternateContent xmlns:mc="http://schemas.openxmlformats.org/markup-compatibility/2006">
    <mc:Choice xmlns:p14="http://schemas.microsoft.com/office/powerpoint/2010/main" Requires="p14">
      <p:transition spd="slow" p14:dur="2000" advTm="29162"/>
    </mc:Choice>
    <mc:Fallback>
      <p:transition spd="slow" advTm="29162"/>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4"/>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14"/>
                </p:tgtEl>
              </p:cMediaNode>
            </p:audio>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58"/>
        <p:cNvGrpSpPr/>
        <p:nvPr/>
      </p:nvGrpSpPr>
      <p:grpSpPr>
        <a:xfrm>
          <a:off x="0" y="0"/>
          <a:ext cx="0" cy="0"/>
          <a:chOff x="0" y="0"/>
          <a:chExt cx="0" cy="0"/>
        </a:xfrm>
      </p:grpSpPr>
      <p:sp>
        <p:nvSpPr>
          <p:cNvPr id="159" name="Google Shape;159;p4"/>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THREATS MATRIX</a:t>
            </a:r>
            <a:endParaRPr/>
          </a:p>
        </p:txBody>
      </p:sp>
      <p:sp>
        <p:nvSpPr>
          <p:cNvPr id="160" name="Google Shape;160;p4"/>
          <p:cNvSpPr txBox="1">
            <a:spLocks noGrp="1"/>
          </p:cNvSpPr>
          <p:nvPr>
            <p:ph type="body" idx="1"/>
          </p:nvPr>
        </p:nvSpPr>
        <p:spPr>
          <a:xfrm>
            <a:off x="818707" y="1990938"/>
            <a:ext cx="7485321" cy="4024200"/>
          </a:xfrm>
          <a:prstGeom prst="rect">
            <a:avLst/>
          </a:prstGeom>
          <a:noFill/>
          <a:ln>
            <a:noFill/>
          </a:ln>
        </p:spPr>
        <p:txBody>
          <a:bodyPr spcFirstLastPara="1" wrap="square" lIns="91425" tIns="45700" rIns="91425" bIns="45700" anchor="t" anchorCtr="0">
            <a:normAutofit lnSpcReduction="10000"/>
          </a:bodyPr>
          <a:lstStyle/>
          <a:p>
            <a:pPr marL="228600" lvl="0" indent="0" algn="l" rtl="0">
              <a:lnSpc>
                <a:spcPct val="107916"/>
              </a:lnSpc>
              <a:spcBef>
                <a:spcPts val="0"/>
              </a:spcBef>
              <a:spcAft>
                <a:spcPts val="0"/>
              </a:spcAft>
              <a:buSzPts val="1800"/>
              <a:buNone/>
            </a:pPr>
            <a:r>
              <a:rPr dirty="0"/>
              <a:t>High threat: CS-01 Input validation, CS-02 Memory safety, CS-03 Access control, CS-04 Error handling/info leaks, CS-05 Unsafe functions/UB.</a:t>
            </a:r>
            <a:endParaRPr sz="2000" dirty="0"/>
          </a:p>
          <a:p>
            <a:r>
              <a:rPr dirty="0"/>
              <a:t>Medium threat: CS-06 Logging/auditing gaps, CS-07 Concurrency/race conditions, CS-08 Misconfiguration/weak defaults, CS-09 Dependency risk.</a:t>
            </a:r>
          </a:p>
          <a:p>
            <a:r>
              <a:rPr dirty="0"/>
              <a:t>Low threat: CS-10 Maintainability/style issues that increase future bug risk.</a:t>
            </a:r>
          </a:p>
          <a:p>
            <a:r>
              <a:rPr dirty="0"/>
              <a:t>Placement logic: prioritize issues that enable crashes, data exposure, privilege escalation, or are commonly exploited.</a:t>
            </a:r>
          </a:p>
        </p:txBody>
      </p:sp>
      <p:pic>
        <p:nvPicPr>
          <p:cNvPr id="162" name="Google Shape;162;p4" descr="Green Pace logo"/>
          <p:cNvPicPr preferRelativeResize="0"/>
          <p:nvPr/>
        </p:nvPicPr>
        <p:blipFill>
          <a:blip r:embed="rId6">
            <a:alphaModFix/>
          </a:blip>
          <a:stretch>
            <a:fillRect/>
          </a:stretch>
        </p:blipFill>
        <p:spPr>
          <a:xfrm>
            <a:off x="11084074" y="5440526"/>
            <a:ext cx="886601" cy="1149225"/>
          </a:xfrm>
          <a:prstGeom prst="rect">
            <a:avLst/>
          </a:prstGeom>
          <a:noFill/>
          <a:ln>
            <a:noFill/>
          </a:ln>
        </p:spPr>
      </p:pic>
      <p:sp>
        <p:nvSpPr>
          <p:cNvPr id="3" name="TextBox 2">
            <a:extLst>
              <a:ext uri="{FF2B5EF4-FFF2-40B4-BE49-F238E27FC236}">
                <a16:creationId xmlns:a16="http://schemas.microsoft.com/office/drawing/2014/main" id="{F749C76A-9DBA-782B-10C4-F8F2949D7C09}"/>
              </a:ext>
            </a:extLst>
          </p:cNvPr>
          <p:cNvSpPr txBox="1"/>
          <p:nvPr/>
        </p:nvSpPr>
        <p:spPr>
          <a:xfrm>
            <a:off x="3048000" y="2530703"/>
            <a:ext cx="6096000" cy="1805559"/>
          </a:xfrm>
          <a:prstGeom prst="rect">
            <a:avLst/>
          </a:prstGeom>
          <a:noFill/>
        </p:spPr>
        <p:txBody>
          <a:bodyPr wrap="square">
            <a:spAutoFit/>
          </a:bodyPr>
          <a:lstStyle/>
          <a:p>
            <a:pPr marL="0" marR="0">
              <a:lnSpc>
                <a:spcPct val="115000"/>
              </a:lnSpc>
              <a:spcAft>
                <a:spcPts val="1000"/>
              </a:spcAft>
              <a:buNone/>
            </a:pPr>
            <a:r>
              <a:rPr lang="en-US" sz="1400" dirty="0">
                <a:effectLst/>
                <a:latin typeface="Cambria" panose="02040503050406030204" pitchFamily="18" charset="0"/>
                <a:ea typeface="MS Mincho" panose="02020609040205080304" pitchFamily="49" charset="-128"/>
                <a:cs typeface="Times New Roman" panose="02020603050405020304" pitchFamily="18" charset="0"/>
              </a:rPr>
              <a:t>This threats matrix summarizes the main coding risks we identified and how we rank them by likelihood and impact. High-priority items include input validation, memory safety, and access control because those issues tend to cause the most damage and are common targets. Medium items are still important, but they typically have either lower likelihood or lower impact. Low items are not ignored—they are scheduled and monitored so they don’t become future high-risk issues.</a:t>
            </a:r>
          </a:p>
        </p:txBody>
      </p:sp>
      <p:pic>
        <p:nvPicPr>
          <p:cNvPr id="14" name="Audio 13">
            <a:extLst>
              <a:ext uri="{FF2B5EF4-FFF2-40B4-BE49-F238E27FC236}">
                <a16:creationId xmlns:a16="http://schemas.microsoft.com/office/drawing/2014/main" id="{B76636CF-F6AC-4842-ED76-BC9A619CF711}"/>
              </a:ext>
            </a:extLst>
          </p:cNvPr>
          <p:cNvPicPr>
            <a:picLocks noChangeAspect="1"/>
          </p:cNvPicPr>
          <p:nvPr>
            <a:audioFile r:link="rId3"/>
            <p:extLst>
              <p:ext uri="{DAA4B4D4-6D71-4841-9C94-3DE7FCFB9230}">
                <p14:media xmlns:p14="http://schemas.microsoft.com/office/powerpoint/2010/main" r:embed="rId2"/>
              </p:ext>
            </p:extLst>
          </p:nvPr>
        </p:nvPicPr>
        <p:blipFill>
          <a:blip r:embed="rId7"/>
          <a:stretch>
            <a:fillRect/>
          </a:stretch>
        </p:blipFill>
        <p:spPr>
          <a:xfrm>
            <a:off x="11226800" y="5892800"/>
            <a:ext cx="812800" cy="812800"/>
          </a:xfrm>
          <a:prstGeom prst="rect">
            <a:avLst/>
          </a:prstGeom>
        </p:spPr>
      </p:pic>
    </p:spTree>
    <p:custDataLst>
      <p:tags r:id="rId1"/>
    </p:custDataLst>
  </p:cSld>
  <p:clrMapOvr>
    <a:masterClrMapping/>
  </p:clrMapOvr>
  <mc:AlternateContent xmlns:mc="http://schemas.openxmlformats.org/markup-compatibility/2006">
    <mc:Choice xmlns:p14="http://schemas.microsoft.com/office/powerpoint/2010/main" Requires="p14">
      <p:transition spd="slow" p14:dur="2000" advTm="42229"/>
    </mc:Choice>
    <mc:Fallback>
      <p:transition spd="slow" advTm="42229"/>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4"/>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14"/>
                </p:tgtEl>
              </p:cMediaNode>
            </p:audio>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66"/>
        <p:cNvGrpSpPr/>
        <p:nvPr/>
      </p:nvGrpSpPr>
      <p:grpSpPr>
        <a:xfrm>
          <a:off x="0" y="0"/>
          <a:ext cx="0" cy="0"/>
          <a:chOff x="0" y="0"/>
          <a:chExt cx="0" cy="0"/>
        </a:xfrm>
      </p:grpSpPr>
      <p:sp>
        <p:nvSpPr>
          <p:cNvPr id="167" name="Google Shape;167;p5"/>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10 PRINCIPLES</a:t>
            </a:r>
            <a:endParaRPr/>
          </a:p>
        </p:txBody>
      </p:sp>
      <p:sp>
        <p:nvSpPr>
          <p:cNvPr id="168" name="Google Shape;168;p5"/>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lnSpcReduction="10000"/>
          </a:bodyPr>
          <a:lstStyle/>
          <a:p>
            <a:pPr marL="228600" lvl="0" indent="-228600" algn="l" rtl="0">
              <a:lnSpc>
                <a:spcPct val="90000"/>
              </a:lnSpc>
              <a:spcBef>
                <a:spcPts val="0"/>
              </a:spcBef>
              <a:spcAft>
                <a:spcPts val="0"/>
              </a:spcAft>
              <a:buClr>
                <a:schemeClr val="lt1"/>
              </a:buClr>
              <a:buSzPts val="2200"/>
              <a:buChar char="•"/>
            </a:pPr>
            <a:r>
              <a:t>1) Least privilege → CS-03, CS-06</a:t>
            </a:r>
          </a:p>
          <a:p>
            <a:r>
              <a:t>2) Defense-in-depth → CS-01, CS-02, CS-09</a:t>
            </a:r>
          </a:p>
          <a:p>
            <a:r>
              <a:t>3) Fail securely → CS-04, CS-08</a:t>
            </a:r>
          </a:p>
          <a:p>
            <a:r>
              <a:t>4) Secure defaults → CS-08, CS-09</a:t>
            </a:r>
          </a:p>
          <a:p>
            <a:r>
              <a:t>5) Validate all inputs → CS-01</a:t>
            </a:r>
          </a:p>
          <a:p>
            <a:r>
              <a:t>6) Minimize attack surface → CS-08, CS-09</a:t>
            </a:r>
          </a:p>
          <a:p>
            <a:r>
              <a:t>7) Separation of duties → CS-03, CS-06</a:t>
            </a:r>
          </a:p>
          <a:p>
            <a:r>
              <a:t>8) Keep it simple → CS-10</a:t>
            </a:r>
          </a:p>
          <a:p>
            <a:r>
              <a:t>9) Complete mediation → CS-03</a:t>
            </a:r>
          </a:p>
          <a:p>
            <a:r>
              <a:t>10) Accountability → CS-06</a:t>
            </a:r>
          </a:p>
        </p:txBody>
      </p:sp>
      <p:pic>
        <p:nvPicPr>
          <p:cNvPr id="169" name="Google Shape;169;p5" descr="Green Pace logo"/>
          <p:cNvPicPr preferRelativeResize="0"/>
          <p:nvPr/>
        </p:nvPicPr>
        <p:blipFill>
          <a:blip r:embed="rId6">
            <a:alphaModFix/>
          </a:blip>
          <a:stretch>
            <a:fillRect/>
          </a:stretch>
        </p:blipFill>
        <p:spPr>
          <a:xfrm>
            <a:off x="11084074" y="5440526"/>
            <a:ext cx="886601" cy="1149225"/>
          </a:xfrm>
          <a:prstGeom prst="rect">
            <a:avLst/>
          </a:prstGeom>
          <a:noFill/>
          <a:ln>
            <a:noFill/>
          </a:ln>
        </p:spPr>
      </p:pic>
      <p:pic>
        <p:nvPicPr>
          <p:cNvPr id="13" name="Audio 12">
            <a:extLst>
              <a:ext uri="{FF2B5EF4-FFF2-40B4-BE49-F238E27FC236}">
                <a16:creationId xmlns:a16="http://schemas.microsoft.com/office/drawing/2014/main" id="{647E6B52-6704-3E3F-638B-53C2D047F28E}"/>
              </a:ext>
            </a:extLst>
          </p:cNvPr>
          <p:cNvPicPr>
            <a:picLocks noChangeAspect="1"/>
          </p:cNvPicPr>
          <p:nvPr>
            <a:audioFile r:link="rId3"/>
            <p:extLst>
              <p:ext uri="{DAA4B4D4-6D71-4841-9C94-3DE7FCFB9230}">
                <p14:media xmlns:p14="http://schemas.microsoft.com/office/powerpoint/2010/main" r:embed="rId2"/>
              </p:ext>
            </p:extLst>
          </p:nvPr>
        </p:nvPicPr>
        <p:blipFill>
          <a:blip r:embed="rId7"/>
          <a:stretch>
            <a:fillRect/>
          </a:stretch>
        </p:blipFill>
        <p:spPr>
          <a:xfrm>
            <a:off x="11226800" y="5892800"/>
            <a:ext cx="812800" cy="812800"/>
          </a:xfrm>
          <a:prstGeom prst="rect">
            <a:avLst/>
          </a:prstGeom>
        </p:spPr>
      </p:pic>
    </p:spTree>
    <p:custDataLst>
      <p:tags r:id="rId1"/>
    </p:custDataLst>
  </p:cSld>
  <p:clrMapOvr>
    <a:masterClrMapping/>
  </p:clrMapOvr>
  <mc:AlternateContent xmlns:mc="http://schemas.openxmlformats.org/markup-compatibility/2006">
    <mc:Choice xmlns:p14="http://schemas.microsoft.com/office/powerpoint/2010/main" Requires="p14">
      <p:transition spd="slow" p14:dur="2000" advTm="34645"/>
    </mc:Choice>
    <mc:Fallback>
      <p:transition spd="slow" advTm="34645"/>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3"/>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13"/>
                </p:tgtEl>
              </p:cMediaNode>
            </p:audio>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174" name="Google Shape;174;p6"/>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CODING STANDARDS</a:t>
            </a:r>
            <a:endParaRPr/>
          </a:p>
        </p:txBody>
      </p:sp>
      <p:sp>
        <p:nvSpPr>
          <p:cNvPr id="175" name="Google Shape;175;p6"/>
          <p:cNvSpPr txBox="1">
            <a:spLocks noGrp="1"/>
          </p:cNvSpPr>
          <p:nvPr>
            <p:ph type="body" idx="1"/>
          </p:nvPr>
        </p:nvSpPr>
        <p:spPr>
          <a:xfrm>
            <a:off x="691116" y="2286000"/>
            <a:ext cx="9741195" cy="3475485"/>
          </a:xfrm>
          <a:prstGeom prst="rect">
            <a:avLst/>
          </a:prstGeom>
          <a:noFill/>
          <a:ln>
            <a:noFill/>
          </a:ln>
        </p:spPr>
        <p:txBody>
          <a:bodyPr spcFirstLastPara="1" wrap="square" lIns="91425" tIns="45700" rIns="91425" bIns="45700" anchor="t" anchorCtr="0">
            <a:normAutofit fontScale="70000" lnSpcReduction="20000"/>
          </a:bodyPr>
          <a:lstStyle/>
          <a:p>
            <a:pPr marL="228600" lvl="0" indent="-228600" algn="l" rtl="0">
              <a:lnSpc>
                <a:spcPct val="90000"/>
              </a:lnSpc>
              <a:spcBef>
                <a:spcPts val="0"/>
              </a:spcBef>
              <a:spcAft>
                <a:spcPts val="0"/>
              </a:spcAft>
              <a:buClr>
                <a:schemeClr val="lt1"/>
              </a:buClr>
              <a:buSzPts val="2000"/>
              <a:buChar char="•"/>
            </a:pPr>
            <a:r>
              <a:rPr dirty="0"/>
              <a:t>Ranking method: (1) impact, (2) likelihood, (3) cost-to-fix if found late.</a:t>
            </a:r>
          </a:p>
          <a:p>
            <a:r>
              <a:rPr dirty="0"/>
              <a:t>CS-01 Validate all input (Example: reject invalid length/range; sanitize/encode).</a:t>
            </a:r>
          </a:p>
          <a:p>
            <a:r>
              <a:rPr dirty="0"/>
              <a:t>CS-02 Memory safety (Example: bounds checks; avoid unsafe copying; prefer safe APIs).</a:t>
            </a:r>
          </a:p>
          <a:p>
            <a:r>
              <a:rPr dirty="0"/>
              <a:t>CS-03 Access control (Example: enforce role checks server-side for protected actions).</a:t>
            </a:r>
          </a:p>
          <a:p>
            <a:r>
              <a:rPr dirty="0"/>
              <a:t>CS-04 Secure error handling (Example: generic user errors; detailed internal logs only).</a:t>
            </a:r>
          </a:p>
          <a:p>
            <a:r>
              <a:rPr dirty="0"/>
              <a:t>CS-05 Avoid insecure/undefined behavior (Example: avoid deprecated/unsafe functions).</a:t>
            </a:r>
          </a:p>
          <a:p>
            <a:r>
              <a:rPr dirty="0"/>
              <a:t>CS-06 Logging &amp; auditing (Example: log admin changes and data exports—no secrets).</a:t>
            </a:r>
          </a:p>
          <a:p>
            <a:r>
              <a:rPr dirty="0"/>
              <a:t>CS-07 Concurrency safety (Example: protect shared state; avoid race conditions).</a:t>
            </a:r>
          </a:p>
          <a:p>
            <a:r>
              <a:rPr dirty="0"/>
              <a:t>CS-08 Secure configuration (Example: no debug in prod; strong TLS settings).</a:t>
            </a:r>
          </a:p>
          <a:p>
            <a:r>
              <a:rPr dirty="0"/>
              <a:t>CS-09 Dependency hygiene (Example: pin versions; block known-vulnerable packages).</a:t>
            </a:r>
          </a:p>
          <a:p>
            <a:r>
              <a:rPr dirty="0"/>
              <a:t>CS-10 Maintainable code (Example: simple, readable code to reduce security bugs).</a:t>
            </a:r>
          </a:p>
        </p:txBody>
      </p:sp>
      <p:pic>
        <p:nvPicPr>
          <p:cNvPr id="176" name="Google Shape;176;p6" descr="Green Pace logo"/>
          <p:cNvPicPr preferRelativeResize="0"/>
          <p:nvPr/>
        </p:nvPicPr>
        <p:blipFill>
          <a:blip r:embed="rId6">
            <a:alphaModFix/>
          </a:blip>
          <a:stretch>
            <a:fillRect/>
          </a:stretch>
        </p:blipFill>
        <p:spPr>
          <a:xfrm>
            <a:off x="11084074" y="5440526"/>
            <a:ext cx="886601" cy="1149225"/>
          </a:xfrm>
          <a:prstGeom prst="rect">
            <a:avLst/>
          </a:prstGeom>
          <a:noFill/>
          <a:ln>
            <a:noFill/>
          </a:ln>
        </p:spPr>
      </p:pic>
      <p:pic>
        <p:nvPicPr>
          <p:cNvPr id="13" name="Audio 12">
            <a:extLst>
              <a:ext uri="{FF2B5EF4-FFF2-40B4-BE49-F238E27FC236}">
                <a16:creationId xmlns:a16="http://schemas.microsoft.com/office/drawing/2014/main" id="{97DB53FC-591A-E151-B243-B20C59CB4BD3}"/>
              </a:ext>
            </a:extLst>
          </p:cNvPr>
          <p:cNvPicPr>
            <a:picLocks noChangeAspect="1"/>
          </p:cNvPicPr>
          <p:nvPr>
            <a:audioFile r:link="rId3"/>
            <p:extLst>
              <p:ext uri="{DAA4B4D4-6D71-4841-9C94-3DE7FCFB9230}">
                <p14:media xmlns:p14="http://schemas.microsoft.com/office/powerpoint/2010/main" r:embed="rId2"/>
              </p:ext>
            </p:extLst>
          </p:nvPr>
        </p:nvPicPr>
        <p:blipFill>
          <a:blip r:embed="rId7"/>
          <a:stretch>
            <a:fillRect/>
          </a:stretch>
        </p:blipFill>
        <p:spPr>
          <a:xfrm>
            <a:off x="11226800" y="5892800"/>
            <a:ext cx="812800" cy="812800"/>
          </a:xfrm>
          <a:prstGeom prst="rect">
            <a:avLst/>
          </a:prstGeom>
        </p:spPr>
      </p:pic>
    </p:spTree>
    <p:custDataLst>
      <p:tags r:id="rId1"/>
    </p:custDataLst>
  </p:cSld>
  <p:clrMapOvr>
    <a:masterClrMapping/>
  </p:clrMapOvr>
  <mc:AlternateContent xmlns:mc="http://schemas.openxmlformats.org/markup-compatibility/2006">
    <mc:Choice xmlns:p14="http://schemas.microsoft.com/office/powerpoint/2010/main" Requires="p14">
      <p:transition spd="slow" p14:dur="2000" advTm="41184"/>
    </mc:Choice>
    <mc:Fallback>
      <p:transition spd="slow" advTm="41184"/>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3"/>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13"/>
                </p:tgtEl>
              </p:cMediaNode>
            </p:audio>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sp>
        <p:nvSpPr>
          <p:cNvPr id="181" name="Google Shape;181;p7"/>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ENCRYPTION POLICIES</a:t>
            </a:r>
            <a:endParaRPr/>
          </a:p>
        </p:txBody>
      </p:sp>
      <p:sp>
        <p:nvSpPr>
          <p:cNvPr id="182" name="Google Shape;182;p7"/>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lt1"/>
              </a:buClr>
              <a:buSzPts val="2000"/>
              <a:buChar char="•"/>
            </a:pPr>
            <a:r>
              <a:t>In flight: Use TLS for client-to-service and service-to-service traffic; disable weak protocols/ciphers.</a:t>
            </a:r>
            <a:endParaRPr sz="1600"/>
          </a:p>
          <a:p>
            <a:r>
              <a:t>At rest: Encrypt sensitive stored data; protect and rotate keys; restrict key access.</a:t>
            </a:r>
          </a:p>
          <a:p>
            <a:r>
              <a:t>In use: Avoid logging secrets; minimize plaintext exposure in memory; use secure secret storage.</a:t>
            </a:r>
          </a:p>
          <a:p>
            <a:r>
              <a:t>Example: TLS for login/API calls; encrypt sensitive DB fields; store keys in a vault/KMS.</a:t>
            </a:r>
          </a:p>
        </p:txBody>
      </p:sp>
      <p:pic>
        <p:nvPicPr>
          <p:cNvPr id="183" name="Google Shape;183;p7" descr="Green Pace logo"/>
          <p:cNvPicPr preferRelativeResize="0"/>
          <p:nvPr/>
        </p:nvPicPr>
        <p:blipFill>
          <a:blip r:embed="rId6">
            <a:alphaModFix/>
          </a:blip>
          <a:stretch>
            <a:fillRect/>
          </a:stretch>
        </p:blipFill>
        <p:spPr>
          <a:xfrm>
            <a:off x="11084074" y="5440526"/>
            <a:ext cx="886601" cy="1149225"/>
          </a:xfrm>
          <a:prstGeom prst="rect">
            <a:avLst/>
          </a:prstGeom>
          <a:noFill/>
          <a:ln>
            <a:noFill/>
          </a:ln>
        </p:spPr>
      </p:pic>
      <p:pic>
        <p:nvPicPr>
          <p:cNvPr id="11" name="Audio 10">
            <a:extLst>
              <a:ext uri="{FF2B5EF4-FFF2-40B4-BE49-F238E27FC236}">
                <a16:creationId xmlns:a16="http://schemas.microsoft.com/office/drawing/2014/main" id="{B2F1369B-92CB-B1EC-0FF6-AAB93B67D313}"/>
              </a:ext>
            </a:extLst>
          </p:cNvPr>
          <p:cNvPicPr>
            <a:picLocks noChangeAspect="1"/>
          </p:cNvPicPr>
          <p:nvPr>
            <a:audioFile r:link="rId3"/>
            <p:extLst>
              <p:ext uri="{DAA4B4D4-6D71-4841-9C94-3DE7FCFB9230}">
                <p14:media xmlns:p14="http://schemas.microsoft.com/office/powerpoint/2010/main" r:embed="rId2"/>
              </p:ext>
            </p:extLst>
          </p:nvPr>
        </p:nvPicPr>
        <p:blipFill>
          <a:blip r:embed="rId7"/>
          <a:stretch>
            <a:fillRect/>
          </a:stretch>
        </p:blipFill>
        <p:spPr>
          <a:xfrm>
            <a:off x="11226800" y="5892800"/>
            <a:ext cx="812800" cy="812800"/>
          </a:xfrm>
          <a:prstGeom prst="rect">
            <a:avLst/>
          </a:prstGeom>
        </p:spPr>
      </p:pic>
    </p:spTree>
    <p:custDataLst>
      <p:tags r:id="rId1"/>
    </p:custDataLst>
  </p:cSld>
  <p:clrMapOvr>
    <a:masterClrMapping/>
  </p:clrMapOvr>
  <mc:AlternateContent xmlns:mc="http://schemas.openxmlformats.org/markup-compatibility/2006">
    <mc:Choice xmlns:p14="http://schemas.microsoft.com/office/powerpoint/2010/main" Requires="p14">
      <p:transition spd="slow" p14:dur="2000" advTm="42165"/>
    </mc:Choice>
    <mc:Fallback>
      <p:transition spd="slow" advTm="42165"/>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1"/>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11"/>
                </p:tgtEl>
              </p:cMediaNode>
            </p:audio>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sp>
        <p:nvSpPr>
          <p:cNvPr id="188" name="Google Shape;188;p8"/>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TRIPLE-A POLICIES</a:t>
            </a:r>
            <a:endParaRPr/>
          </a:p>
        </p:txBody>
      </p:sp>
      <p:sp>
        <p:nvSpPr>
          <p:cNvPr id="189" name="Google Shape;189;p8"/>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lt1"/>
              </a:buClr>
              <a:buSzPts val="2400"/>
              <a:buChar char="•"/>
            </a:pPr>
            <a:r>
              <a:t>Authentication: strong password policy + MFA where possible; store credentials securely (hash + salt); never log secrets.</a:t>
            </a:r>
          </a:p>
          <a:p>
            <a:r>
              <a:t>Authorization: least privilege; role-based access control; verify permissions on every protected action.</a:t>
            </a:r>
          </a:p>
          <a:p>
            <a:r>
              <a:t>Accounting: log security events (login failures, role changes, data exports) with timestamps and user IDs; monitor and alert.</a:t>
            </a:r>
          </a:p>
          <a:p>
            <a:r>
              <a:t>Example: admin features require elevated role + are always audited.</a:t>
            </a:r>
          </a:p>
        </p:txBody>
      </p:sp>
      <p:pic>
        <p:nvPicPr>
          <p:cNvPr id="190" name="Google Shape;190;p8" descr="Green Pace logo"/>
          <p:cNvPicPr preferRelativeResize="0"/>
          <p:nvPr/>
        </p:nvPicPr>
        <p:blipFill>
          <a:blip r:embed="rId6">
            <a:alphaModFix/>
          </a:blip>
          <a:stretch>
            <a:fillRect/>
          </a:stretch>
        </p:blipFill>
        <p:spPr>
          <a:xfrm>
            <a:off x="11084074" y="5440526"/>
            <a:ext cx="886601" cy="1149225"/>
          </a:xfrm>
          <a:prstGeom prst="rect">
            <a:avLst/>
          </a:prstGeom>
          <a:noFill/>
          <a:ln>
            <a:noFill/>
          </a:ln>
        </p:spPr>
      </p:pic>
      <p:pic>
        <p:nvPicPr>
          <p:cNvPr id="9" name="Audio 8">
            <a:extLst>
              <a:ext uri="{FF2B5EF4-FFF2-40B4-BE49-F238E27FC236}">
                <a16:creationId xmlns:a16="http://schemas.microsoft.com/office/drawing/2014/main" id="{037C8428-C8E3-AF42-0C76-A6DE990BD049}"/>
              </a:ext>
            </a:extLst>
          </p:cNvPr>
          <p:cNvPicPr>
            <a:picLocks noChangeAspect="1"/>
          </p:cNvPicPr>
          <p:nvPr>
            <a:audioFile r:link="rId3"/>
            <p:extLst>
              <p:ext uri="{DAA4B4D4-6D71-4841-9C94-3DE7FCFB9230}">
                <p14:media xmlns:p14="http://schemas.microsoft.com/office/powerpoint/2010/main" r:embed="rId2"/>
              </p:ext>
            </p:extLst>
          </p:nvPr>
        </p:nvPicPr>
        <p:blipFill>
          <a:blip r:embed="rId7"/>
          <a:stretch>
            <a:fillRect/>
          </a:stretch>
        </p:blipFill>
        <p:spPr>
          <a:xfrm>
            <a:off x="11226800" y="5892800"/>
            <a:ext cx="812800" cy="812800"/>
          </a:xfrm>
          <a:prstGeom prst="rect">
            <a:avLst/>
          </a:prstGeom>
        </p:spPr>
      </p:pic>
    </p:spTree>
    <p:custDataLst>
      <p:tags r:id="rId1"/>
    </p:custDataLst>
  </p:cSld>
  <p:clrMapOvr>
    <a:masterClrMapping/>
  </p:clrMapOvr>
  <mc:AlternateContent xmlns:mc="http://schemas.openxmlformats.org/markup-compatibility/2006">
    <mc:Choice xmlns:p14="http://schemas.microsoft.com/office/powerpoint/2010/main" Requires="p14">
      <p:transition spd="slow" p14:dur="2000" advTm="42538"/>
    </mc:Choice>
    <mc:Fallback>
      <p:transition spd="slow" advTm="42538"/>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9"/>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9"/>
                </p:tgtEl>
              </p:cMediaNode>
            </p:audio>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94"/>
        <p:cNvGrpSpPr/>
        <p:nvPr/>
      </p:nvGrpSpPr>
      <p:grpSpPr>
        <a:xfrm>
          <a:off x="0" y="0"/>
          <a:ext cx="0" cy="0"/>
          <a:chOff x="0" y="0"/>
          <a:chExt cx="0" cy="0"/>
        </a:xfrm>
      </p:grpSpPr>
      <p:sp>
        <p:nvSpPr>
          <p:cNvPr id="195" name="Google Shape;195;g9504e29505_0_0"/>
          <p:cNvSpPr txBox="1">
            <a:spLocks noGrp="1"/>
          </p:cNvSpPr>
          <p:nvPr>
            <p:ph type="title"/>
          </p:nvPr>
        </p:nvSpPr>
        <p:spPr>
          <a:xfrm>
            <a:off x="2895600" y="764373"/>
            <a:ext cx="8610600" cy="1293000"/>
          </a:xfrm>
          <a:prstGeom prst="rect">
            <a:avLst/>
          </a:prstGeom>
          <a:noFill/>
          <a:ln>
            <a:noFill/>
          </a:ln>
        </p:spPr>
        <p:txBody>
          <a:bodyPr spcFirstLastPara="1" wrap="square" lIns="91425" tIns="45700" rIns="91425" bIns="45700" anchor="ctr" anchorCtr="0">
            <a:noAutofit/>
          </a:bodyPr>
          <a:lstStyle/>
          <a:p>
            <a:pPr marL="0" lvl="0" indent="0" algn="r" rtl="0">
              <a:lnSpc>
                <a:spcPct val="90000"/>
              </a:lnSpc>
              <a:spcBef>
                <a:spcPts val="0"/>
              </a:spcBef>
              <a:spcAft>
                <a:spcPts val="0"/>
              </a:spcAft>
              <a:buSzPts val="1800"/>
              <a:buNone/>
            </a:pPr>
            <a:r>
              <a:t>Unit Testing 1: Input validation (length/range)</a:t>
            </a:r>
          </a:p>
        </p:txBody>
      </p:sp>
      <p:sp>
        <p:nvSpPr>
          <p:cNvPr id="196" name="Google Shape;196;g9504e29505_0_0"/>
          <p:cNvSpPr txBox="1">
            <a:spLocks noGrp="1"/>
          </p:cNvSpPr>
          <p:nvPr>
            <p:ph type="body" idx="1"/>
          </p:nvPr>
        </p:nvSpPr>
        <p:spPr>
          <a:xfrm>
            <a:off x="685800" y="2194560"/>
            <a:ext cx="10820400" cy="402420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1000"/>
              </a:spcBef>
              <a:spcAft>
                <a:spcPts val="0"/>
              </a:spcAft>
              <a:buSzPts val="1800"/>
              <a:buNone/>
            </a:pPr>
            <a:r>
              <a:t>Purpose: Prevent crashes and injection-style bugs by rejecting invalid input before processing.</a:t>
            </a:r>
          </a:p>
          <a:p>
            <a:r>
              <a:t>What the test checks: rejects overly long strings; rejects negative/overflow values; confirms safe error handling.</a:t>
            </a:r>
          </a:p>
          <a:p>
            <a:r>
              <a:t>Take it further: add boundary fuzz cases in CI; add encoding/normalization edge cases.</a:t>
            </a:r>
          </a:p>
          <a:p>
            <a:r>
              <a:t>Screenshots to add: test code + test results (pass/fail).</a:t>
            </a:r>
          </a:p>
        </p:txBody>
      </p:sp>
      <p:pic>
        <p:nvPicPr>
          <p:cNvPr id="197" name="Google Shape;197;g9504e29505_0_0" descr="Green Pace logo"/>
          <p:cNvPicPr preferRelativeResize="0"/>
          <p:nvPr/>
        </p:nvPicPr>
        <p:blipFill>
          <a:blip r:embed="rId6">
            <a:alphaModFix/>
          </a:blip>
          <a:stretch>
            <a:fillRect/>
          </a:stretch>
        </p:blipFill>
        <p:spPr>
          <a:xfrm>
            <a:off x="11084074" y="5440526"/>
            <a:ext cx="886601" cy="1149225"/>
          </a:xfrm>
          <a:prstGeom prst="rect">
            <a:avLst/>
          </a:prstGeom>
          <a:noFill/>
          <a:ln>
            <a:noFill/>
          </a:ln>
        </p:spPr>
      </p:pic>
      <p:pic>
        <p:nvPicPr>
          <p:cNvPr id="5" name="Audio 4">
            <a:extLst>
              <a:ext uri="{FF2B5EF4-FFF2-40B4-BE49-F238E27FC236}">
                <a16:creationId xmlns:a16="http://schemas.microsoft.com/office/drawing/2014/main" id="{4C95B0D2-3999-D3CD-0092-14CD9A648CC1}"/>
              </a:ext>
            </a:extLst>
          </p:cNvPr>
          <p:cNvPicPr>
            <a:picLocks noChangeAspect="1"/>
          </p:cNvPicPr>
          <p:nvPr>
            <a:audioFile r:link="rId3"/>
            <p:extLst>
              <p:ext uri="{DAA4B4D4-6D71-4841-9C94-3DE7FCFB9230}">
                <p14:media xmlns:p14="http://schemas.microsoft.com/office/powerpoint/2010/main" r:embed="rId2"/>
              </p:ext>
            </p:extLst>
          </p:nvPr>
        </p:nvPicPr>
        <p:blipFill>
          <a:blip r:embed="rId7"/>
          <a:stretch>
            <a:fillRect/>
          </a:stretch>
        </p:blipFill>
        <p:spPr>
          <a:xfrm>
            <a:off x="11226800" y="5892800"/>
            <a:ext cx="812800" cy="812800"/>
          </a:xfrm>
          <a:prstGeom prst="rect">
            <a:avLst/>
          </a:prstGeom>
        </p:spPr>
      </p:pic>
    </p:spTree>
    <p:custDataLst>
      <p:tags r:id="rId1"/>
    </p:custDataLst>
  </p:cSld>
  <p:clrMapOvr>
    <a:masterClrMapping/>
  </p:clrMapOvr>
  <mc:AlternateContent xmlns:mc="http://schemas.openxmlformats.org/markup-compatibility/2006">
    <mc:Choice xmlns:p14="http://schemas.microsoft.com/office/powerpoint/2010/main" Requires="p14">
      <p:transition spd="slow" p14:dur="2000" advTm="31136"/>
    </mc:Choice>
    <mc:Fallback>
      <p:transition spd="slow" advTm="31136"/>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5"/>
                </p:tgtEl>
              </p:cMediaNode>
            </p:audio>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2" name="Google Shape;202;p9"/>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AUTOMATION SUMMARY</a:t>
            </a:r>
            <a:endParaRPr/>
          </a:p>
        </p:txBody>
      </p:sp>
      <p:pic>
        <p:nvPicPr>
          <p:cNvPr id="203" name="Google Shape;203;p9" descr="DevSec Ops Toolchain Diagram&#10;Graphical representation of the automation process used in the enforcement and compliance of the Security Policy Standards.&#10;The illustration shows a figure eight or infinity symbol to illustrate that the cycle of development is continuous. It starts with assessing and planning, to designing and building with DevSecOps in the center of the continuous loop to maintain system integrity and then make additional changes to make it more secure."/>
          <p:cNvPicPr preferRelativeResize="0">
            <a:picLocks noGrp="1"/>
          </p:cNvPicPr>
          <p:nvPr>
            <p:ph type="body" idx="1"/>
          </p:nvPr>
        </p:nvPicPr>
        <p:blipFill rotWithShape="1">
          <a:blip r:embed="rId6">
            <a:alphaModFix/>
          </a:blip>
          <a:srcRect/>
          <a:stretch/>
        </p:blipFill>
        <p:spPr>
          <a:xfrm>
            <a:off x="2127250" y="2199481"/>
            <a:ext cx="7937500" cy="4013200"/>
          </a:xfrm>
          <a:prstGeom prst="rect">
            <a:avLst/>
          </a:prstGeom>
          <a:noFill/>
          <a:ln>
            <a:noFill/>
          </a:ln>
        </p:spPr>
      </p:pic>
      <p:pic>
        <p:nvPicPr>
          <p:cNvPr id="204" name="Google Shape;204;p9" descr="Green Pace logo"/>
          <p:cNvPicPr preferRelativeResize="0"/>
          <p:nvPr/>
        </p:nvPicPr>
        <p:blipFill>
          <a:blip r:embed="rId7">
            <a:alphaModFix/>
          </a:blip>
          <a:stretch>
            <a:fillRect/>
          </a:stretch>
        </p:blipFill>
        <p:spPr>
          <a:xfrm>
            <a:off x="11084074" y="5440526"/>
            <a:ext cx="886601" cy="1149225"/>
          </a:xfrm>
          <a:prstGeom prst="rect">
            <a:avLst/>
          </a:prstGeom>
          <a:noFill/>
          <a:ln>
            <a:noFill/>
          </a:ln>
        </p:spPr>
      </p:pic>
      <p:sp>
        <p:nvSpPr>
          <p:cNvPr id="205" name="TextBox 204"/>
          <p:cNvSpPr txBox="1"/>
          <p:nvPr/>
        </p:nvSpPr>
        <p:spPr>
          <a:xfrm>
            <a:off x="731520" y="4297680"/>
            <a:ext cx="7315200" cy="1188720"/>
          </a:xfrm>
          <a:prstGeom prst="rect">
            <a:avLst/>
          </a:prstGeom>
          <a:noFill/>
        </p:spPr>
        <p:txBody>
          <a:bodyPr wrap="none">
            <a:spAutoFit/>
          </a:bodyPr>
          <a:lstStyle/>
          <a:p>
            <a:r>
              <a:t>Security automation happens at multiple stages so issues are caught early and repeatedly, not only at the end.</a:t>
            </a:r>
          </a:p>
          <a:p>
            <a:r>
              <a:t>Use CI gates: fail builds on high-severity static analysis findings and failed unit tests.</a:t>
            </a:r>
          </a:p>
        </p:txBody>
      </p:sp>
      <p:pic>
        <p:nvPicPr>
          <p:cNvPr id="5" name="Audio 4">
            <a:extLst>
              <a:ext uri="{FF2B5EF4-FFF2-40B4-BE49-F238E27FC236}">
                <a16:creationId xmlns:a16="http://schemas.microsoft.com/office/drawing/2014/main" id="{9CF04DDB-5EDB-7BD8-7ADF-EC5001DFF3A9}"/>
              </a:ext>
            </a:extLst>
          </p:cNvPr>
          <p:cNvPicPr>
            <a:picLocks noChangeAspect="1"/>
          </p:cNvPicPr>
          <p:nvPr>
            <a:audioFile r:link="rId3"/>
            <p:extLst>
              <p:ext uri="{DAA4B4D4-6D71-4841-9C94-3DE7FCFB9230}">
                <p14:media xmlns:p14="http://schemas.microsoft.com/office/powerpoint/2010/main" r:embed="rId2"/>
              </p:ext>
            </p:extLst>
          </p:nvPr>
        </p:nvPicPr>
        <p:blipFill>
          <a:blip r:embed="rId8"/>
          <a:stretch>
            <a:fillRect/>
          </a:stretch>
        </p:blipFill>
        <p:spPr>
          <a:xfrm>
            <a:off x="11226800" y="5892800"/>
            <a:ext cx="812800" cy="812800"/>
          </a:xfrm>
          <a:prstGeom prst="rect">
            <a:avLst/>
          </a:prstGeom>
        </p:spPr>
      </p:pic>
    </p:spTree>
    <p:custDataLst>
      <p:tags r:id="rId1"/>
    </p:custDataLst>
  </p:cSld>
  <p:clrMapOvr>
    <a:masterClrMapping/>
  </p:clrMapOvr>
  <mc:AlternateContent xmlns:mc="http://schemas.openxmlformats.org/markup-compatibility/2006">
    <mc:Choice xmlns:p14="http://schemas.microsoft.com/office/powerpoint/2010/main" Requires="p14">
      <p:transition spd="slow" p14:dur="2000" advTm="44032"/>
    </mc:Choice>
    <mc:Fallback>
      <p:transition spd="slow" advTm="44032"/>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5"/>
                </p:tgtEl>
              </p:cMediaNode>
            </p:audio>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08"/>
        <p:cNvGrpSpPr/>
        <p:nvPr/>
      </p:nvGrpSpPr>
      <p:grpSpPr>
        <a:xfrm>
          <a:off x="0" y="0"/>
          <a:ext cx="0" cy="0"/>
          <a:chOff x="0" y="0"/>
          <a:chExt cx="0" cy="0"/>
        </a:xfrm>
      </p:grpSpPr>
      <p:sp>
        <p:nvSpPr>
          <p:cNvPr id="209" name="Google Shape;209;p10"/>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TOOLS</a:t>
            </a:r>
            <a:endParaRPr/>
          </a:p>
        </p:txBody>
      </p:sp>
      <p:sp>
        <p:nvSpPr>
          <p:cNvPr id="210" name="Google Shape;210;p10"/>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p>
            <a:pPr marL="685800" lvl="1" indent="-228600" algn="l" rtl="0">
              <a:lnSpc>
                <a:spcPct val="90000"/>
              </a:lnSpc>
              <a:spcBef>
                <a:spcPts val="0"/>
              </a:spcBef>
              <a:spcAft>
                <a:spcPts val="0"/>
              </a:spcAft>
              <a:buClr>
                <a:schemeClr val="lt1"/>
              </a:buClr>
              <a:buSzPts val="2000"/>
              <a:buChar char="•"/>
            </a:pPr>
            <a:r>
              <a:t>External tools used (examples):</a:t>
            </a:r>
            <a:endParaRPr sz="1600"/>
          </a:p>
          <a:p>
            <a:r>
              <a:t>• Static analysis: compiler warnings, linting, secure rule checks (fail build on high severity).</a:t>
            </a:r>
          </a:p>
          <a:p>
            <a:r>
              <a:t>• Dynamic analysis: runtime checks (sanitizers) and behavior monitoring.</a:t>
            </a:r>
          </a:p>
          <a:p>
            <a:r>
              <a:t>• Fuzzing: randomized inputs to trigger crashes and edge cases.</a:t>
            </a:r>
          </a:p>
          <a:p>
            <a:r>
              <a:t>• Dependency checks: identify known-vulnerable libraries and block them before merge.</a:t>
            </a:r>
          </a:p>
          <a:p>
            <a:r>
              <a:t>Pipeline fit: run automatically in CI on pull requests; results are visible to the team.</a:t>
            </a:r>
          </a:p>
        </p:txBody>
      </p:sp>
      <p:pic>
        <p:nvPicPr>
          <p:cNvPr id="211" name="Google Shape;211;p10" descr="Green Pace logo"/>
          <p:cNvPicPr preferRelativeResize="0"/>
          <p:nvPr/>
        </p:nvPicPr>
        <p:blipFill>
          <a:blip r:embed="rId6">
            <a:alphaModFix/>
          </a:blip>
          <a:stretch>
            <a:fillRect/>
          </a:stretch>
        </p:blipFill>
        <p:spPr>
          <a:xfrm>
            <a:off x="11084074" y="5440526"/>
            <a:ext cx="886601" cy="1149225"/>
          </a:xfrm>
          <a:prstGeom prst="rect">
            <a:avLst/>
          </a:prstGeom>
          <a:noFill/>
          <a:ln>
            <a:noFill/>
          </a:ln>
        </p:spPr>
      </p:pic>
      <p:pic>
        <p:nvPicPr>
          <p:cNvPr id="5" name="Audio 4">
            <a:extLst>
              <a:ext uri="{FF2B5EF4-FFF2-40B4-BE49-F238E27FC236}">
                <a16:creationId xmlns:a16="http://schemas.microsoft.com/office/drawing/2014/main" id="{B0D87661-4D4B-6141-D6BE-EA9D55095ED9}"/>
              </a:ext>
            </a:extLst>
          </p:cNvPr>
          <p:cNvPicPr>
            <a:picLocks noChangeAspect="1"/>
          </p:cNvPicPr>
          <p:nvPr>
            <a:audioFile r:link="rId3"/>
            <p:extLst>
              <p:ext uri="{DAA4B4D4-6D71-4841-9C94-3DE7FCFB9230}">
                <p14:media xmlns:p14="http://schemas.microsoft.com/office/powerpoint/2010/main" r:embed="rId2"/>
              </p:ext>
            </p:extLst>
          </p:nvPr>
        </p:nvPicPr>
        <p:blipFill>
          <a:blip r:embed="rId7"/>
          <a:stretch>
            <a:fillRect/>
          </a:stretch>
        </p:blipFill>
        <p:spPr>
          <a:xfrm>
            <a:off x="11226800" y="5892800"/>
            <a:ext cx="812800" cy="812800"/>
          </a:xfrm>
          <a:prstGeom prst="rect">
            <a:avLst/>
          </a:prstGeom>
        </p:spPr>
      </p:pic>
    </p:spTree>
    <p:custDataLst>
      <p:tags r:id="rId1"/>
    </p:custDataLst>
  </p:cSld>
  <p:clrMapOvr>
    <a:masterClrMapping/>
  </p:clrMapOvr>
  <mc:AlternateContent xmlns:mc="http://schemas.openxmlformats.org/markup-compatibility/2006">
    <mc:Choice xmlns:p14="http://schemas.microsoft.com/office/powerpoint/2010/main" Requires="p14">
      <p:transition spd="slow" p14:dur="2000" advTm="35541"/>
    </mc:Choice>
    <mc:Fallback>
      <p:transition spd="slow" advTm="35541"/>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5"/>
                </p:tgtEl>
              </p:cMediaNode>
            </p:audio>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15"/>
        <p:cNvGrpSpPr/>
        <p:nvPr/>
      </p:nvGrpSpPr>
      <p:grpSpPr>
        <a:xfrm>
          <a:off x="0" y="0"/>
          <a:ext cx="0" cy="0"/>
          <a:chOff x="0" y="0"/>
          <a:chExt cx="0" cy="0"/>
        </a:xfrm>
      </p:grpSpPr>
      <p:sp>
        <p:nvSpPr>
          <p:cNvPr id="216" name="Google Shape;216;p11"/>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RISKS AND BENEFITS</a:t>
            </a:r>
            <a:endParaRPr/>
          </a:p>
        </p:txBody>
      </p:sp>
      <p:sp>
        <p:nvSpPr>
          <p:cNvPr id="217" name="Google Shape;217;p11"/>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lt1"/>
              </a:buClr>
              <a:buSzPts val="2000"/>
              <a:buChar char="•"/>
            </a:pPr>
            <a:r>
              <a:t>Method: prioritize by risk = likelihood × impact, then consider effort and blast radius.</a:t>
            </a:r>
          </a:p>
          <a:p>
            <a:r>
              <a:t>Act now: cheaper fixes; lower incident likelihood; better long-term velocity.</a:t>
            </a:r>
          </a:p>
          <a:p>
            <a:r>
              <a:t>Wait: higher chance issues reach production; incident response cost; reputational impact.</a:t>
            </a:r>
          </a:p>
          <a:p>
            <a:r>
              <a:t>Address first: CS-02 memory safety, CS-03 access control, CS-01 validation (highest impact categories).</a:t>
            </a:r>
          </a:p>
        </p:txBody>
      </p:sp>
      <p:pic>
        <p:nvPicPr>
          <p:cNvPr id="218" name="Google Shape;218;p11" descr="Green Pace logo"/>
          <p:cNvPicPr preferRelativeResize="0"/>
          <p:nvPr/>
        </p:nvPicPr>
        <p:blipFill>
          <a:blip r:embed="rId6">
            <a:alphaModFix/>
          </a:blip>
          <a:stretch>
            <a:fillRect/>
          </a:stretch>
        </p:blipFill>
        <p:spPr>
          <a:xfrm>
            <a:off x="11084074" y="5440526"/>
            <a:ext cx="886601" cy="1149225"/>
          </a:xfrm>
          <a:prstGeom prst="rect">
            <a:avLst/>
          </a:prstGeom>
          <a:noFill/>
          <a:ln>
            <a:noFill/>
          </a:ln>
        </p:spPr>
      </p:pic>
      <p:pic>
        <p:nvPicPr>
          <p:cNvPr id="5" name="Audio 4">
            <a:extLst>
              <a:ext uri="{FF2B5EF4-FFF2-40B4-BE49-F238E27FC236}">
                <a16:creationId xmlns:a16="http://schemas.microsoft.com/office/drawing/2014/main" id="{8132F8DC-E8FA-4023-7885-F4EA2344D891}"/>
              </a:ext>
            </a:extLst>
          </p:cNvPr>
          <p:cNvPicPr>
            <a:picLocks noChangeAspect="1"/>
          </p:cNvPicPr>
          <p:nvPr>
            <a:audioFile r:link="rId3"/>
            <p:extLst>
              <p:ext uri="{DAA4B4D4-6D71-4841-9C94-3DE7FCFB9230}">
                <p14:media xmlns:p14="http://schemas.microsoft.com/office/powerpoint/2010/main" r:embed="rId2"/>
              </p:ext>
            </p:extLst>
          </p:nvPr>
        </p:nvPicPr>
        <p:blipFill>
          <a:blip r:embed="rId7"/>
          <a:stretch>
            <a:fillRect/>
          </a:stretch>
        </p:blipFill>
        <p:spPr>
          <a:xfrm>
            <a:off x="11226800" y="5892800"/>
            <a:ext cx="812800" cy="812800"/>
          </a:xfrm>
          <a:prstGeom prst="rect">
            <a:avLst/>
          </a:prstGeom>
        </p:spPr>
      </p:pic>
    </p:spTree>
    <p:custDataLst>
      <p:tags r:id="rId1"/>
    </p:custDataLst>
  </p:cSld>
  <p:clrMapOvr>
    <a:masterClrMapping/>
  </p:clrMapOvr>
  <mc:AlternateContent xmlns:mc="http://schemas.openxmlformats.org/markup-compatibility/2006">
    <mc:Choice xmlns:p14="http://schemas.microsoft.com/office/powerpoint/2010/main" Requires="p14">
      <p:transition spd="slow" p14:dur="2000" advTm="53856"/>
    </mc:Choice>
    <mc:Fallback>
      <p:transition spd="slow" advTm="53856"/>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5"/>
                </p:tgtEl>
              </p:cMediaNode>
            </p:audio>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22"/>
        <p:cNvGrpSpPr/>
        <p:nvPr/>
      </p:nvGrpSpPr>
      <p:grpSpPr>
        <a:xfrm>
          <a:off x="0" y="0"/>
          <a:ext cx="0" cy="0"/>
          <a:chOff x="0" y="0"/>
          <a:chExt cx="0" cy="0"/>
        </a:xfrm>
      </p:grpSpPr>
      <p:sp>
        <p:nvSpPr>
          <p:cNvPr id="223" name="Google Shape;223;p12"/>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RECOMMENDATIONS</a:t>
            </a:r>
            <a:endParaRPr/>
          </a:p>
        </p:txBody>
      </p:sp>
      <p:sp>
        <p:nvSpPr>
          <p:cNvPr id="224" name="Google Shape;224;p12"/>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p>
            <a:pPr marL="1143000" lvl="2" indent="-228600" algn="l" rtl="0">
              <a:lnSpc>
                <a:spcPct val="90000"/>
              </a:lnSpc>
              <a:spcBef>
                <a:spcPts val="0"/>
              </a:spcBef>
              <a:spcAft>
                <a:spcPts val="0"/>
              </a:spcAft>
              <a:buClr>
                <a:schemeClr val="lt1"/>
              </a:buClr>
              <a:buSzPts val="1800"/>
              <a:buChar char="•"/>
            </a:pPr>
            <a:r>
              <a:t>Current gaps: inconsistent security checks; limited regression tests; uneven logging/auditing for high-risk actions.</a:t>
            </a:r>
            <a:endParaRPr sz="1400"/>
          </a:p>
          <a:p>
            <a:r>
              <a:t>Recommendations: standard CI gates; expand unit tests for known vulnerability classes; define minimum audit events + alerts; review policy each release.</a:t>
            </a:r>
          </a:p>
        </p:txBody>
      </p:sp>
      <p:pic>
        <p:nvPicPr>
          <p:cNvPr id="225" name="Google Shape;225;p12" descr="Green Pace logo"/>
          <p:cNvPicPr preferRelativeResize="0"/>
          <p:nvPr/>
        </p:nvPicPr>
        <p:blipFill>
          <a:blip r:embed="rId6">
            <a:alphaModFix/>
          </a:blip>
          <a:stretch>
            <a:fillRect/>
          </a:stretch>
        </p:blipFill>
        <p:spPr>
          <a:xfrm>
            <a:off x="11084074" y="5440526"/>
            <a:ext cx="886601" cy="1149225"/>
          </a:xfrm>
          <a:prstGeom prst="rect">
            <a:avLst/>
          </a:prstGeom>
          <a:noFill/>
          <a:ln>
            <a:noFill/>
          </a:ln>
        </p:spPr>
      </p:pic>
      <p:pic>
        <p:nvPicPr>
          <p:cNvPr id="5" name="Audio 4">
            <a:extLst>
              <a:ext uri="{FF2B5EF4-FFF2-40B4-BE49-F238E27FC236}">
                <a16:creationId xmlns:a16="http://schemas.microsoft.com/office/drawing/2014/main" id="{9E456E7C-AE36-D7AC-4CB9-B9B8AAB18DFD}"/>
              </a:ext>
            </a:extLst>
          </p:cNvPr>
          <p:cNvPicPr>
            <a:picLocks noChangeAspect="1"/>
          </p:cNvPicPr>
          <p:nvPr>
            <a:audioFile r:link="rId3"/>
            <p:extLst>
              <p:ext uri="{DAA4B4D4-6D71-4841-9C94-3DE7FCFB9230}">
                <p14:media xmlns:p14="http://schemas.microsoft.com/office/powerpoint/2010/main" r:embed="rId2"/>
              </p:ext>
            </p:extLst>
          </p:nvPr>
        </p:nvPicPr>
        <p:blipFill>
          <a:blip r:embed="rId7"/>
          <a:stretch>
            <a:fillRect/>
          </a:stretch>
        </p:blipFill>
        <p:spPr>
          <a:xfrm>
            <a:off x="11226800" y="5892800"/>
            <a:ext cx="812800" cy="812800"/>
          </a:xfrm>
          <a:prstGeom prst="rect">
            <a:avLst/>
          </a:prstGeom>
        </p:spPr>
      </p:pic>
    </p:spTree>
    <p:custDataLst>
      <p:tags r:id="rId1"/>
    </p:custDataLst>
  </p:cSld>
  <p:clrMapOvr>
    <a:masterClrMapping/>
  </p:clrMapOvr>
  <mc:AlternateContent xmlns:mc="http://schemas.openxmlformats.org/markup-compatibility/2006">
    <mc:Choice xmlns:p14="http://schemas.microsoft.com/office/powerpoint/2010/main" Requires="p14">
      <p:transition spd="slow" p14:dur="2000" advTm="35413"/>
    </mc:Choice>
    <mc:Fallback>
      <p:transition spd="slow" advTm="35413"/>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5"/>
                </p:tgtEl>
              </p:cMediaNode>
            </p:audio>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29"/>
        <p:cNvGrpSpPr/>
        <p:nvPr/>
      </p:nvGrpSpPr>
      <p:grpSpPr>
        <a:xfrm>
          <a:off x="0" y="0"/>
          <a:ext cx="0" cy="0"/>
          <a:chOff x="0" y="0"/>
          <a:chExt cx="0" cy="0"/>
        </a:xfrm>
      </p:grpSpPr>
      <p:sp>
        <p:nvSpPr>
          <p:cNvPr id="230" name="Google Shape;230;p13"/>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CONCLUSIONS</a:t>
            </a:r>
            <a:endParaRPr/>
          </a:p>
        </p:txBody>
      </p:sp>
      <p:sp>
        <p:nvSpPr>
          <p:cNvPr id="231" name="Google Shape;231;p13"/>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lt1"/>
              </a:buClr>
              <a:buSzPts val="2200"/>
              <a:buChar char="•"/>
            </a:pPr>
            <a:r>
              <a:t>Standardized: threat matrix; 10 principles + 10 standards; automation + unit tests.</a:t>
            </a:r>
            <a:endParaRPr sz="1800"/>
          </a:p>
          <a:p>
            <a:r>
              <a:t>Next steps: adopt CI policy gates; add sanitizer/fuzz runs for high-risk areas; improve onboarding + documentation.</a:t>
            </a:r>
          </a:p>
        </p:txBody>
      </p:sp>
      <p:pic>
        <p:nvPicPr>
          <p:cNvPr id="232" name="Google Shape;232;p13" descr="Green Pace logo"/>
          <p:cNvPicPr preferRelativeResize="0"/>
          <p:nvPr/>
        </p:nvPicPr>
        <p:blipFill>
          <a:blip r:embed="rId6">
            <a:alphaModFix/>
          </a:blip>
          <a:stretch>
            <a:fillRect/>
          </a:stretch>
        </p:blipFill>
        <p:spPr>
          <a:xfrm>
            <a:off x="11084074" y="5440526"/>
            <a:ext cx="886601" cy="1149225"/>
          </a:xfrm>
          <a:prstGeom prst="rect">
            <a:avLst/>
          </a:prstGeom>
          <a:noFill/>
          <a:ln>
            <a:noFill/>
          </a:ln>
        </p:spPr>
      </p:pic>
      <p:pic>
        <p:nvPicPr>
          <p:cNvPr id="5" name="Audio 4">
            <a:extLst>
              <a:ext uri="{FF2B5EF4-FFF2-40B4-BE49-F238E27FC236}">
                <a16:creationId xmlns:a16="http://schemas.microsoft.com/office/drawing/2014/main" id="{B84D29A5-DFFF-C620-FCD9-DFDE60DD1748}"/>
              </a:ext>
            </a:extLst>
          </p:cNvPr>
          <p:cNvPicPr>
            <a:picLocks noChangeAspect="1"/>
          </p:cNvPicPr>
          <p:nvPr>
            <a:audioFile r:link="rId3"/>
            <p:extLst>
              <p:ext uri="{DAA4B4D4-6D71-4841-9C94-3DE7FCFB9230}">
                <p14:media xmlns:p14="http://schemas.microsoft.com/office/powerpoint/2010/main" r:embed="rId2"/>
              </p:ext>
            </p:extLst>
          </p:nvPr>
        </p:nvPicPr>
        <p:blipFill>
          <a:blip r:embed="rId7"/>
          <a:stretch>
            <a:fillRect/>
          </a:stretch>
        </p:blipFill>
        <p:spPr>
          <a:xfrm>
            <a:off x="11226800" y="5892800"/>
            <a:ext cx="812800" cy="812800"/>
          </a:xfrm>
          <a:prstGeom prst="rect">
            <a:avLst/>
          </a:prstGeom>
        </p:spPr>
      </p:pic>
    </p:spTree>
    <p:custDataLst>
      <p:tags r:id="rId1"/>
    </p:custDataLst>
  </p:cSld>
  <p:clrMapOvr>
    <a:masterClrMapping/>
  </p:clrMapOvr>
  <mc:AlternateContent xmlns:mc="http://schemas.openxmlformats.org/markup-compatibility/2006">
    <mc:Choice xmlns:p14="http://schemas.microsoft.com/office/powerpoint/2010/main" Requires="p14">
      <p:transition spd="slow" p14:dur="2000" advTm="24053"/>
    </mc:Choice>
    <mc:Fallback>
      <p:transition spd="slow" advTm="24053"/>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5"/>
                </p:tgtEl>
              </p:cMediaNode>
            </p:audio>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36"/>
        <p:cNvGrpSpPr/>
        <p:nvPr/>
      </p:nvGrpSpPr>
      <p:grpSpPr>
        <a:xfrm>
          <a:off x="0" y="0"/>
          <a:ext cx="0" cy="0"/>
          <a:chOff x="0" y="0"/>
          <a:chExt cx="0" cy="0"/>
        </a:xfrm>
      </p:grpSpPr>
      <p:sp>
        <p:nvSpPr>
          <p:cNvPr id="237" name="Google Shape;237;p14"/>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REFERENCES</a:t>
            </a:r>
            <a:endParaRPr/>
          </a:p>
        </p:txBody>
      </p:sp>
      <p:sp>
        <p:nvSpPr>
          <p:cNvPr id="238" name="Google Shape;238;p14"/>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lt1"/>
              </a:buClr>
              <a:buSzPts val="2200"/>
              <a:buChar char="•"/>
            </a:pPr>
            <a:r>
              <a:t>National Institute of Standards and Technology. (2022). Secure Software Development Framework (SSDF) Version 1.1 (SP 800-218). https://csrc.nist.gov/pubs/sp/800/218/final</a:t>
            </a:r>
          </a:p>
          <a:p>
            <a:r>
              <a:t>OWASP. (2021). OWASP Top 10: The Ten Most Critical Web Application Security Risks. https://owasp.org/Top10/</a:t>
            </a:r>
          </a:p>
          <a:p>
            <a:r>
              <a:t>Microsoft. (n.d.). C++ Unit Testing in Visual Studio (Test Explorer). https://learn.microsoft.com/visualstudio/test/</a:t>
            </a:r>
          </a:p>
        </p:txBody>
      </p:sp>
      <p:pic>
        <p:nvPicPr>
          <p:cNvPr id="239" name="Google Shape;239;p14" descr="Green Pace logo"/>
          <p:cNvPicPr preferRelativeResize="0"/>
          <p:nvPr/>
        </p:nvPicPr>
        <p:blipFill>
          <a:blip r:embed="rId6">
            <a:alphaModFix/>
          </a:blip>
          <a:stretch>
            <a:fillRect/>
          </a:stretch>
        </p:blipFill>
        <p:spPr>
          <a:xfrm>
            <a:off x="11084074" y="5440526"/>
            <a:ext cx="886601" cy="1149225"/>
          </a:xfrm>
          <a:prstGeom prst="rect">
            <a:avLst/>
          </a:prstGeom>
          <a:noFill/>
          <a:ln>
            <a:noFill/>
          </a:ln>
        </p:spPr>
      </p:pic>
      <p:pic>
        <p:nvPicPr>
          <p:cNvPr id="5" name="Audio 4">
            <a:extLst>
              <a:ext uri="{FF2B5EF4-FFF2-40B4-BE49-F238E27FC236}">
                <a16:creationId xmlns:a16="http://schemas.microsoft.com/office/drawing/2014/main" id="{AF299E96-A56E-A186-7A4D-6F976FA86A92}"/>
              </a:ext>
            </a:extLst>
          </p:cNvPr>
          <p:cNvPicPr>
            <a:picLocks noChangeAspect="1"/>
          </p:cNvPicPr>
          <p:nvPr>
            <a:audioFile r:link="rId3"/>
            <p:extLst>
              <p:ext uri="{DAA4B4D4-6D71-4841-9C94-3DE7FCFB9230}">
                <p14:media xmlns:p14="http://schemas.microsoft.com/office/powerpoint/2010/main" r:embed="rId2"/>
              </p:ext>
            </p:extLst>
          </p:nvPr>
        </p:nvPicPr>
        <p:blipFill>
          <a:blip r:embed="rId7"/>
          <a:stretch>
            <a:fillRect/>
          </a:stretch>
        </p:blipFill>
        <p:spPr>
          <a:xfrm>
            <a:off x="11226800" y="5892800"/>
            <a:ext cx="812800" cy="812800"/>
          </a:xfrm>
          <a:prstGeom prst="rect">
            <a:avLst/>
          </a:prstGeom>
        </p:spPr>
      </p:pic>
    </p:spTree>
    <p:custDataLst>
      <p:tags r:id="rId1"/>
    </p:custDataLst>
  </p:cSld>
  <p:clrMapOvr>
    <a:masterClrMapping/>
  </p:clrMapOvr>
  <mc:AlternateContent xmlns:mc="http://schemas.openxmlformats.org/markup-compatibility/2006">
    <mc:Choice xmlns:p14="http://schemas.microsoft.com/office/powerpoint/2010/main" Requires="p14">
      <p:transition spd="slow" p14:dur="2000" advTm="17013"/>
    </mc:Choice>
    <mc:Fallback>
      <p:transition spd="slow" advTm="17013"/>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5"/>
                </p:tgtEl>
              </p:cMediaNode>
            </p:audio>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95600" y="764373"/>
            <a:ext cx="8610600" cy="1293028"/>
          </a:xfrm>
        </p:spPr>
        <p:txBody>
          <a:bodyPr wrap="square" anchor="ctr">
            <a:normAutofit/>
          </a:bodyPr>
          <a:lstStyle/>
          <a:p>
            <a:r>
              <a:t>Unit Testing 2: Bounds checking / buffer safety</a:t>
            </a:r>
          </a:p>
        </p:txBody>
      </p:sp>
      <p:pic>
        <p:nvPicPr>
          <p:cNvPr id="4" name="Picture 3" descr="A screenshot of a computer screen&#10;&#10;AI-generated content may be incorrect.">
            <a:extLst>
              <a:ext uri="{FF2B5EF4-FFF2-40B4-BE49-F238E27FC236}">
                <a16:creationId xmlns:a16="http://schemas.microsoft.com/office/drawing/2014/main" id="{7CF15B12-2B8C-5B2A-C5C9-2BD0E1C1E7A4}"/>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85800" y="1458470"/>
            <a:ext cx="6324600" cy="4395595"/>
          </a:xfrm>
          <a:prstGeom prst="rect">
            <a:avLst/>
          </a:prstGeom>
          <a:noFill/>
          <a:ln>
            <a:noFill/>
          </a:ln>
        </p:spPr>
      </p:pic>
      <p:sp>
        <p:nvSpPr>
          <p:cNvPr id="3" name="Text Placeholder 2"/>
          <p:cNvSpPr>
            <a:spLocks noGrp="1"/>
          </p:cNvSpPr>
          <p:nvPr>
            <p:ph type="body" idx="4294967295"/>
          </p:nvPr>
        </p:nvSpPr>
        <p:spPr>
          <a:xfrm>
            <a:off x="7391400" y="2247901"/>
            <a:ext cx="4114800" cy="4352544"/>
          </a:xfrm>
        </p:spPr>
        <p:txBody>
          <a:bodyPr anchor="t">
            <a:normAutofit/>
          </a:bodyPr>
          <a:lstStyle/>
          <a:p>
            <a:pPr algn="r">
              <a:spcBef>
                <a:spcPts val="0"/>
              </a:spcBef>
              <a:spcAft>
                <a:spcPts val="600"/>
              </a:spcAft>
              <a:buClr>
                <a:srgbClr val="000000"/>
              </a:buClr>
            </a:pPr>
            <a:r>
              <a:rPr lang="en-US" sz="1900" b="0" i="0" u="none" strike="noStrike" cap="none"/>
              <a:t>Purpose: Catch off-by-one and buffer overflow risks before they become exploitable.</a:t>
            </a:r>
          </a:p>
          <a:p>
            <a:pPr algn="r">
              <a:spcBef>
                <a:spcPts val="0"/>
              </a:spcBef>
              <a:spcAft>
                <a:spcPts val="600"/>
              </a:spcAft>
              <a:buClr>
                <a:srgbClr val="000000"/>
              </a:buClr>
            </a:pPr>
            <a:r>
              <a:rPr lang="en-US" sz="1900" b="0" i="0" u="none" strike="noStrike" cap="none"/>
              <a:t>What the test checks: asserts bounds checks; verifies safe copying/truncation behavior.</a:t>
            </a:r>
          </a:p>
          <a:p>
            <a:pPr algn="r">
              <a:spcBef>
                <a:spcPts val="0"/>
              </a:spcBef>
              <a:spcAft>
                <a:spcPts val="600"/>
              </a:spcAft>
              <a:buClr>
                <a:srgbClr val="000000"/>
              </a:buClr>
            </a:pPr>
            <a:r>
              <a:rPr lang="en-US" sz="1900" b="0" i="0" u="none" strike="noStrike" cap="none"/>
              <a:t>Take it further: run sanitizers in test builds; add property-based tests over many sizes/inputs.</a:t>
            </a:r>
          </a:p>
          <a:p>
            <a:pPr algn="r">
              <a:spcBef>
                <a:spcPts val="0"/>
              </a:spcBef>
              <a:spcAft>
                <a:spcPts val="600"/>
              </a:spcAft>
              <a:buClr>
                <a:srgbClr val="000000"/>
              </a:buClr>
            </a:pPr>
            <a:r>
              <a:rPr lang="en-US" sz="1900" b="0" i="0" u="none" strike="noStrike" cap="none"/>
              <a:t>Screenshots to add: test code + test results (pass/fail).</a:t>
            </a:r>
          </a:p>
        </p:txBody>
      </p:sp>
      <p:pic>
        <p:nvPicPr>
          <p:cNvPr id="8" name="Audio 7">
            <a:extLst>
              <a:ext uri="{FF2B5EF4-FFF2-40B4-BE49-F238E27FC236}">
                <a16:creationId xmlns:a16="http://schemas.microsoft.com/office/drawing/2014/main" id="{786FEA29-8553-ED5A-0C45-F95B0EE25A86}"/>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11226800" y="5892800"/>
            <a:ext cx="812800" cy="812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2288"/>
    </mc:Choice>
    <mc:Fallback>
      <p:transition spd="slow" advTm="32288"/>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8"/>
                </p:tgtEl>
              </p:cMediaNode>
            </p:audio>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Unit Testing 3: Authentication / Authorization checks</a:t>
            </a:r>
          </a:p>
        </p:txBody>
      </p:sp>
      <p:sp>
        <p:nvSpPr>
          <p:cNvPr id="3" name="Text Placeholder 2"/>
          <p:cNvSpPr>
            <a:spLocks noGrp="1"/>
          </p:cNvSpPr>
          <p:nvPr>
            <p:ph type="body" idx="1"/>
          </p:nvPr>
        </p:nvSpPr>
        <p:spPr/>
        <p:txBody>
          <a:bodyPr/>
          <a:lstStyle/>
          <a:p>
            <a:r>
              <a:rPr dirty="0"/>
              <a:t>Purpose: Prevent broken access control by verifying permissions for every protected action.</a:t>
            </a:r>
          </a:p>
          <a:p>
            <a:r>
              <a:rPr dirty="0"/>
              <a:t>What the test checks: normal user blocked from admin-only functions; role changes require re-auth and are logged.</a:t>
            </a:r>
          </a:p>
          <a:p>
            <a:r>
              <a:rPr dirty="0"/>
              <a:t>Take it further: add negative IDOR tests; add integration tests around API </a:t>
            </a:r>
            <a:r>
              <a:t>endpoints.</a:t>
            </a:r>
            <a:endParaRPr dirty="0"/>
          </a:p>
        </p:txBody>
      </p:sp>
      <p:pic>
        <p:nvPicPr>
          <p:cNvPr id="10" name="Audio 9">
            <a:extLst>
              <a:ext uri="{FF2B5EF4-FFF2-40B4-BE49-F238E27FC236}">
                <a16:creationId xmlns:a16="http://schemas.microsoft.com/office/drawing/2014/main" id="{1E50C8D3-105D-4251-060C-A409E90114A5}"/>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11226800" y="5892800"/>
            <a:ext cx="812800" cy="812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29397"/>
    </mc:Choice>
    <mc:Fallback>
      <p:transition spd="slow" advTm="29397"/>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0"/>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10"/>
                </p:tgtEl>
              </p:cMediaNode>
            </p:audio>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95600" y="764373"/>
            <a:ext cx="8610600" cy="1293028"/>
          </a:xfrm>
        </p:spPr>
        <p:txBody>
          <a:bodyPr wrap="square" anchor="ctr">
            <a:normAutofit/>
          </a:bodyPr>
          <a:lstStyle/>
          <a:p>
            <a:r>
              <a:t>Unit Testing 4: Error handling &amp; safe logging</a:t>
            </a:r>
          </a:p>
        </p:txBody>
      </p:sp>
      <p:pic>
        <p:nvPicPr>
          <p:cNvPr id="4" name="Picture 3" descr="A screenshot of a computer&#10;&#10;AI-generated content may be incorrect.">
            <a:extLst>
              <a:ext uri="{FF2B5EF4-FFF2-40B4-BE49-F238E27FC236}">
                <a16:creationId xmlns:a16="http://schemas.microsoft.com/office/drawing/2014/main" id="{CE274803-534B-8312-1845-DCBF8B605BFB}"/>
              </a:ext>
            </a:extLst>
          </p:cNvPr>
          <p:cNvPicPr>
            <a:picLocks noChangeAspect="1"/>
          </p:cNvPicPr>
          <p:nvPr/>
        </p:nvPicPr>
        <p:blipFill>
          <a:blip r:embed="rId5"/>
          <a:stretch>
            <a:fillRect/>
          </a:stretch>
        </p:blipFill>
        <p:spPr>
          <a:xfrm>
            <a:off x="440236" y="1705233"/>
            <a:ext cx="6570164" cy="3958524"/>
          </a:xfrm>
          <a:prstGeom prst="rect">
            <a:avLst/>
          </a:prstGeom>
          <a:noFill/>
          <a:ln>
            <a:noFill/>
          </a:ln>
        </p:spPr>
      </p:pic>
      <p:sp>
        <p:nvSpPr>
          <p:cNvPr id="3" name="Text Placeholder 2"/>
          <p:cNvSpPr>
            <a:spLocks noGrp="1"/>
          </p:cNvSpPr>
          <p:nvPr>
            <p:ph type="body" idx="4294967295"/>
          </p:nvPr>
        </p:nvSpPr>
        <p:spPr>
          <a:xfrm>
            <a:off x="7391400" y="2247901"/>
            <a:ext cx="4114800" cy="4352544"/>
          </a:xfrm>
        </p:spPr>
        <p:txBody>
          <a:bodyPr anchor="t">
            <a:normAutofit/>
          </a:bodyPr>
          <a:lstStyle/>
          <a:p>
            <a:pPr algn="r">
              <a:spcBef>
                <a:spcPts val="0"/>
              </a:spcBef>
              <a:spcAft>
                <a:spcPts val="600"/>
              </a:spcAft>
              <a:buClr>
                <a:srgbClr val="000000"/>
              </a:buClr>
            </a:pPr>
            <a:r>
              <a:rPr lang="en-US" sz="2000" b="0" i="0" u="none" strike="noStrike" cap="none"/>
              <a:t>Purpose: Ensure failures do not leak secrets and logs remain useful for investigations.</a:t>
            </a:r>
          </a:p>
          <a:p>
            <a:pPr algn="r">
              <a:spcBef>
                <a:spcPts val="0"/>
              </a:spcBef>
              <a:spcAft>
                <a:spcPts val="600"/>
              </a:spcAft>
              <a:buClr>
                <a:srgbClr val="000000"/>
              </a:buClr>
            </a:pPr>
            <a:r>
              <a:rPr lang="en-US" sz="2000" b="0" i="0" u="none" strike="noStrike" cap="none"/>
              <a:t>What the test checks: generic user-facing errors; logs record event without secrets/PII.</a:t>
            </a:r>
          </a:p>
          <a:p>
            <a:pPr algn="r">
              <a:spcBef>
                <a:spcPts val="0"/>
              </a:spcBef>
              <a:spcAft>
                <a:spcPts val="600"/>
              </a:spcAft>
              <a:buClr>
                <a:srgbClr val="000000"/>
              </a:buClr>
            </a:pPr>
            <a:r>
              <a:rPr lang="en-US" sz="2000" b="0" i="0" u="none" strike="noStrike" cap="none"/>
              <a:t>Take it further: validate log format; test redaction for PII/secrets.</a:t>
            </a:r>
          </a:p>
          <a:p>
            <a:pPr algn="r">
              <a:spcBef>
                <a:spcPts val="0"/>
              </a:spcBef>
              <a:spcAft>
                <a:spcPts val="600"/>
              </a:spcAft>
              <a:buClr>
                <a:srgbClr val="000000"/>
              </a:buClr>
            </a:pPr>
            <a:r>
              <a:rPr lang="en-US" sz="2000" b="0" i="0" u="none" strike="noStrike" cap="none"/>
              <a:t>Screenshots to add: test code + test results (pass/fail).</a:t>
            </a:r>
          </a:p>
        </p:txBody>
      </p:sp>
      <p:pic>
        <p:nvPicPr>
          <p:cNvPr id="7" name="Audio 6">
            <a:extLst>
              <a:ext uri="{FF2B5EF4-FFF2-40B4-BE49-F238E27FC236}">
                <a16:creationId xmlns:a16="http://schemas.microsoft.com/office/drawing/2014/main" id="{B9196C2B-2689-5E13-958C-02AD23F2E8E8}"/>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11226800" y="5892800"/>
            <a:ext cx="812800" cy="812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2432"/>
    </mc:Choice>
    <mc:Fallback>
      <p:transition spd="slow" advTm="42432"/>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7"/>
                </p:tgtEl>
              </p:cMediaNode>
            </p:audio>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95600" y="764373"/>
            <a:ext cx="8610600" cy="1293028"/>
          </a:xfrm>
        </p:spPr>
        <p:txBody>
          <a:bodyPr wrap="square" anchor="ctr">
            <a:normAutofit/>
          </a:bodyPr>
          <a:lstStyle/>
          <a:p>
            <a:r>
              <a:rPr lang="en-US" sz="3400"/>
              <a:t>Unit Testing 5: Dependency/configuration guardrails</a:t>
            </a:r>
          </a:p>
        </p:txBody>
      </p:sp>
      <p:pic>
        <p:nvPicPr>
          <p:cNvPr id="4" name="Picture 3" descr="A screenshot of a computer program&#10;&#10;AI-generated content may be incorrect.">
            <a:extLst>
              <a:ext uri="{FF2B5EF4-FFF2-40B4-BE49-F238E27FC236}">
                <a16:creationId xmlns:a16="http://schemas.microsoft.com/office/drawing/2014/main" id="{83443568-F3C6-992B-38C3-4A2512D1A849}"/>
              </a:ext>
            </a:extLst>
          </p:cNvPr>
          <p:cNvPicPr>
            <a:picLocks noChangeAspect="1"/>
          </p:cNvPicPr>
          <p:nvPr/>
        </p:nvPicPr>
        <p:blipFill>
          <a:blip r:embed="rId5"/>
          <a:stretch>
            <a:fillRect/>
          </a:stretch>
        </p:blipFill>
        <p:spPr>
          <a:xfrm>
            <a:off x="685800" y="2247901"/>
            <a:ext cx="6194854" cy="3949218"/>
          </a:xfrm>
          <a:prstGeom prst="rect">
            <a:avLst/>
          </a:prstGeom>
          <a:noFill/>
          <a:ln>
            <a:noFill/>
          </a:ln>
        </p:spPr>
      </p:pic>
      <p:sp>
        <p:nvSpPr>
          <p:cNvPr id="3" name="Text Placeholder 2"/>
          <p:cNvSpPr>
            <a:spLocks noGrp="1"/>
          </p:cNvSpPr>
          <p:nvPr>
            <p:ph type="body" idx="4294967295"/>
          </p:nvPr>
        </p:nvSpPr>
        <p:spPr>
          <a:xfrm>
            <a:off x="7391400" y="2247901"/>
            <a:ext cx="4114800" cy="4352544"/>
          </a:xfrm>
        </p:spPr>
        <p:txBody>
          <a:bodyPr anchor="t">
            <a:normAutofit/>
          </a:bodyPr>
          <a:lstStyle/>
          <a:p>
            <a:pPr algn="r">
              <a:spcBef>
                <a:spcPts val="0"/>
              </a:spcBef>
              <a:spcAft>
                <a:spcPts val="600"/>
              </a:spcAft>
              <a:buClr>
                <a:srgbClr val="000000"/>
              </a:buClr>
            </a:pPr>
            <a:r>
              <a:rPr lang="en-US" sz="1900" b="0" i="0" u="none" strike="noStrike" cap="none"/>
              <a:t>Purpose: Stop insecure defaults from shipping (debug flags, weak settings, vulnerable libs).</a:t>
            </a:r>
          </a:p>
          <a:p>
            <a:pPr algn="r">
              <a:spcBef>
                <a:spcPts val="0"/>
              </a:spcBef>
              <a:spcAft>
                <a:spcPts val="600"/>
              </a:spcAft>
              <a:buClr>
                <a:srgbClr val="000000"/>
              </a:buClr>
            </a:pPr>
            <a:r>
              <a:rPr lang="en-US" sz="1900" b="0" i="0" u="none" strike="noStrike" cap="none"/>
              <a:t>What the test checks: fails if DEBUG enabled in production; confirms required security settings are on.</a:t>
            </a:r>
          </a:p>
          <a:p>
            <a:pPr algn="r">
              <a:spcBef>
                <a:spcPts val="0"/>
              </a:spcBef>
              <a:spcAft>
                <a:spcPts val="600"/>
              </a:spcAft>
              <a:buClr>
                <a:srgbClr val="000000"/>
              </a:buClr>
            </a:pPr>
            <a:r>
              <a:rPr lang="en-US" sz="1900" b="0" i="0" u="none" strike="noStrike" cap="none"/>
              <a:t>Take it further: dependency policy test (allow list + pinned versions); SBOM checks and CI alerting.</a:t>
            </a:r>
          </a:p>
          <a:p>
            <a:pPr algn="r">
              <a:spcBef>
                <a:spcPts val="0"/>
              </a:spcBef>
              <a:spcAft>
                <a:spcPts val="600"/>
              </a:spcAft>
              <a:buClr>
                <a:srgbClr val="000000"/>
              </a:buClr>
            </a:pPr>
            <a:r>
              <a:rPr lang="en-US" sz="1900" b="0" i="0" u="none" strike="noStrike" cap="none"/>
              <a:t>Screenshots to add: test code + test results (pass/fail).</a:t>
            </a:r>
          </a:p>
        </p:txBody>
      </p:sp>
      <p:pic>
        <p:nvPicPr>
          <p:cNvPr id="8" name="Audio 7">
            <a:extLst>
              <a:ext uri="{FF2B5EF4-FFF2-40B4-BE49-F238E27FC236}">
                <a16:creationId xmlns:a16="http://schemas.microsoft.com/office/drawing/2014/main" id="{6B668FAE-AB18-1F37-BCEB-74026B9A8124}"/>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11226800" y="5892800"/>
            <a:ext cx="812800" cy="812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66282"/>
    </mc:Choice>
    <mc:Fallback>
      <p:transition spd="slow" advTm="66282"/>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8"/>
                </p:tgtEl>
              </p:cMediaNode>
            </p:audio>
          </p:childTnLst>
        </p:cTn>
      </p:par>
    </p:tnLst>
  </p:timing>
</p:sld>
</file>

<file path=ppt/tags/tag1.xml><?xml version="1.0" encoding="utf-8"?>
<p:tagLst xmlns:a="http://schemas.openxmlformats.org/drawingml/2006/main" xmlns:r="http://schemas.openxmlformats.org/officeDocument/2006/relationships" xmlns:p="http://schemas.openxmlformats.org/presentationml/2006/main">
  <p:tag name="ARTICULATE_SLIDE_COUNT" val="14"/>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Vapor Trail">
  <a:themeElements>
    <a:clrScheme name="Vapor Trail">
      <a:dk1>
        <a:srgbClr val="000000"/>
      </a:dk1>
      <a:lt1>
        <a:srgbClr val="FFFFFF"/>
      </a:lt1>
      <a:dk2>
        <a:srgbClr val="454545"/>
      </a:dk2>
      <a:lt2>
        <a:srgbClr val="DADADA"/>
      </a:lt2>
      <a:accent1>
        <a:srgbClr val="DF2E28"/>
      </a:accent1>
      <a:accent2>
        <a:srgbClr val="FE801A"/>
      </a:accent2>
      <a:accent3>
        <a:srgbClr val="E9BF35"/>
      </a:accent3>
      <a:accent4>
        <a:srgbClr val="81BB42"/>
      </a:accent4>
      <a:accent5>
        <a:srgbClr val="32C7A9"/>
      </a:accent5>
      <a:accent6>
        <a:srgbClr val="4A9BDC"/>
      </a:accent6>
      <a:hlink>
        <a:srgbClr val="F0532B"/>
      </a:hlink>
      <a:folHlink>
        <a:srgbClr val="F38B53"/>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19267F6D1A260A4394C18F5AF72445EA" ma:contentTypeVersion="3" ma:contentTypeDescription="Create a new document." ma:contentTypeScope="" ma:versionID="d6a723735a0ade9a92961b83aee31dda">
  <xsd:schema xmlns:xsd="http://www.w3.org/2001/XMLSchema" xmlns:xs="http://www.w3.org/2001/XMLSchema" xmlns:p="http://schemas.microsoft.com/office/2006/metadata/properties" targetNamespace="http://schemas.microsoft.com/office/2006/metadata/properties" ma:root="true" ma:fieldsID="e345bd7673956a623930e5662e321f3a">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4"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F398236C-7FA9-40C9-B456-AA158A506A32}">
  <ds:schemaRefs>
    <ds:schemaRef ds:uri="http://schemas.microsoft.com/sharepoint/v3/contenttype/forms"/>
  </ds:schemaRefs>
</ds:datastoreItem>
</file>

<file path=customXml/itemProps2.xml><?xml version="1.0" encoding="utf-8"?>
<ds:datastoreItem xmlns:ds="http://schemas.openxmlformats.org/officeDocument/2006/customXml" ds:itemID="{3DB4D054-FC38-43E0-B24C-8E3420B75B8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customXml/itemProps3.xml><?xml version="1.0" encoding="utf-8"?>
<ds:datastoreItem xmlns:ds="http://schemas.openxmlformats.org/officeDocument/2006/customXml" ds:itemID="{3E9B35DD-16B6-4415-A905-CDACA4FC6DBE}">
  <ds:schemaRefs>
    <ds:schemaRef ds:uri="http://schemas.openxmlformats.org/package/2006/metadata/core-properties"/>
    <ds:schemaRef ds:uri="http://www.w3.org/XML/1998/namespace"/>
    <ds:schemaRef ds:uri="http://schemas.microsoft.com/office/2006/documentManagement/types"/>
    <ds:schemaRef ds:uri="http://purl.org/dc/elements/1.1/"/>
    <ds:schemaRef ds:uri="http://purl.org/dc/dcmitype/"/>
    <ds:schemaRef ds:uri="http://schemas.microsoft.com/office/2006/metadata/properties"/>
    <ds:schemaRef ds:uri="http://schemas.microsoft.com/office/infopath/2007/PartnerControls"/>
    <ds:schemaRef ds:uri="http://purl.org/dc/terms/"/>
  </ds:schemaRefs>
</ds:datastoreItem>
</file>

<file path=docProps/app.xml><?xml version="1.0" encoding="utf-8"?>
<Properties xmlns="http://schemas.openxmlformats.org/officeDocument/2006/extended-properties" xmlns:vt="http://schemas.openxmlformats.org/officeDocument/2006/docPropsVTypes">
  <TotalTime>52</TotalTime>
  <Words>2636</Words>
  <Application>Microsoft Macintosh PowerPoint</Application>
  <PresentationFormat>Widescreen</PresentationFormat>
  <Paragraphs>120</Paragraphs>
  <Slides>18</Slides>
  <Notes>18</Notes>
  <HiddenSlides>0</HiddenSlides>
  <MMClips>18</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18</vt:i4>
      </vt:variant>
    </vt:vector>
  </HeadingPairs>
  <TitlesOfParts>
    <vt:vector size="22" baseType="lpstr">
      <vt:lpstr>Cambria</vt:lpstr>
      <vt:lpstr>Arial</vt:lpstr>
      <vt:lpstr>Century Gothic</vt:lpstr>
      <vt:lpstr>Vapor Trail</vt:lpstr>
      <vt:lpstr>Green Pace</vt:lpstr>
      <vt:lpstr>OVERVIEW: DEFENSE IN DEPTH</vt:lpstr>
      <vt:lpstr>THREATS MATRIX</vt:lpstr>
      <vt:lpstr>10 PRINCIPLES</vt:lpstr>
      <vt:lpstr>CODING STANDARDS</vt:lpstr>
      <vt:lpstr>ENCRYPTION POLICIES</vt:lpstr>
      <vt:lpstr>TRIPLE-A POLICIES</vt:lpstr>
      <vt:lpstr>Unit Testing 1: Input validation (length/range)</vt:lpstr>
      <vt:lpstr>AUTOMATION SUMMARY</vt:lpstr>
      <vt:lpstr>TOOLS</vt:lpstr>
      <vt:lpstr>RISKS AND BENEFITS</vt:lpstr>
      <vt:lpstr>RECOMMENDATIONS</vt:lpstr>
      <vt:lpstr>CONCLUSIONS</vt:lpstr>
      <vt:lpstr>REFERENCES</vt:lpstr>
      <vt:lpstr>Unit Testing 2: Bounds checking / buffer safety</vt:lpstr>
      <vt:lpstr>Unit Testing 3: Authentication / Authorization checks</vt:lpstr>
      <vt:lpstr>Unit Testing 4: Error handling &amp; safe logging</vt:lpstr>
      <vt:lpstr>Unit Testing 5: Dependency/configuration guardrails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 405 Project Two Presentation Template</dc:title>
  <dc:creator>Kathy Shields</dc:creator>
  <cp:lastModifiedBy>jaden mericle</cp:lastModifiedBy>
  <cp:revision>9</cp:revision>
  <dcterms:created xsi:type="dcterms:W3CDTF">2020-08-19T17:59:24Z</dcterms:created>
  <dcterms:modified xsi:type="dcterms:W3CDTF">2026-02-28T21:27:43Z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DA78308B-55B0-44AB-B406-C6A80F5E53EB</vt:lpwstr>
  </property>
  <property fmtid="{D5CDD505-2E9C-101B-9397-08002B2CF9AE}" pid="3" name="ArticulatePath">
    <vt:lpwstr>CS 405 P2 Presentation Template</vt:lpwstr>
  </property>
  <property fmtid="{D5CDD505-2E9C-101B-9397-08002B2CF9AE}" pid="4" name="ContentTypeId">
    <vt:lpwstr>0x01010019267F6D1A260A4394C18F5AF72445EA</vt:lpwstr>
  </property>
</Properties>
</file>