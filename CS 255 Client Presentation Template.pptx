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542" autoAdjust="0"/>
    <p:restoredTop sz="65782" autoAdjust="0"/>
  </p:normalViewPr>
  <p:slideViewPr>
    <p:cSldViewPr snapToGrid="0">
      <p:cViewPr>
        <p:scale>
          <a:sx n="78" d="100"/>
          <a:sy n="78" d="100"/>
        </p:scale>
        <p:origin x="144"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Hello, and thank you for joining me. My name is Jaden Mericle, and today I’ll be walking you through the system design for </a:t>
            </a:r>
            <a:r>
              <a:rPr lang="en-US" b="0" i="0" u="none" strike="noStrike" dirty="0" err="1">
                <a:solidFill>
                  <a:srgbClr val="000000"/>
                </a:solidFill>
                <a:effectLst/>
              </a:rPr>
              <a:t>DriverPass</a:t>
            </a:r>
            <a:r>
              <a:rPr lang="en-US" b="0" i="0" u="none" strike="noStrike" dirty="0">
                <a:solidFill>
                  <a:srgbClr val="000000"/>
                </a:solidFill>
                <a:effectLst/>
              </a:rPr>
              <a:t>. This system will help streamline how students register, schedule lessons, and prepare for driving exams online.</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what our system must do and how it should perform. Functionally, students and instructors need to interact with scheduling features. Nonfunctionally, the system must always be available online, and all user data must be kept secure, supporting privacy standards. These directly align with the concerns raised during the </a:t>
            </a:r>
            <a:r>
              <a:rPr lang="en-US" dirty="0" err="1"/>
              <a:t>DriverPass</a:t>
            </a:r>
            <a:r>
              <a:rPr lang="en-US" dirty="0"/>
              <a:t> interview.</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This diagram shows the different users—students, instructors, and administrators—and the main actions they take in the system. For example, students can register, schedule lessons, and make payments, while instructors manage their schedules. This helps us understand how users will interact with the system at a high level.</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a:t>
            </a:r>
            <a:r>
              <a:rPr lang="en-US" baseline="0" dirty="0"/>
              <a:t> your diagram. Which use case are you breaking down? What are the steps for this use case? How did you account for </a:t>
            </a:r>
            <a:r>
              <a:rPr lang="en-US" baseline="0" dirty="0" err="1"/>
              <a:t>DriverPass’s</a:t>
            </a:r>
            <a:r>
              <a:rPr lang="en-US" baseline="0" dirty="0"/>
              <a:t> needs in your design? In your explanation, keep your audience in mind. Avoid the use of technical terms such as “nodes,” “control flows,” and so on.]</a:t>
            </a:r>
            <a:endParaRPr lang="en-US" dirty="0"/>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Security is a top priority for </a:t>
            </a:r>
            <a:r>
              <a:rPr lang="en-US" b="0" i="0" u="none" strike="noStrike" dirty="0" err="1">
                <a:solidFill>
                  <a:srgbClr val="000000"/>
                </a:solidFill>
                <a:effectLst/>
              </a:rPr>
              <a:t>DriverPass</a:t>
            </a:r>
            <a:r>
              <a:rPr lang="en-US" b="0" i="0" u="none" strike="noStrike" dirty="0">
                <a:solidFill>
                  <a:srgbClr val="000000"/>
                </a:solidFill>
                <a:effectLst/>
              </a:rPr>
              <a:t>. All sensitive information, like passwords and addresses, will be encrypted. Different users will only see the information they need—students won’t see instructor data and vice versa. Payments will be handled through a secure third-party processor, and we’ll regularly update the system to stay protected from threats.</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While the system covers all essential functions, there are a few limitations to note. Right now, the platform requires an internet connection and is only available in English. Instructors also have to update their schedules manually, and there is no mobile app just yet—though these features may be added in future updates.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https://sdmntprwestus2.oaiusercontent.com/files/00000000-866c-61f8-b5d7-08634471e436/raw?se=2025-04-13T23%3A35%3A57Z&amp;sp=r&amp;sv=2024-08-04&amp;sr=b&amp;scid=bf736427-276d-5340-b189-bff8579eb767&amp;skoid=b53ae837-f585-4db7-b46f-2d0322fce5a9&amp;sktid=a48cca56-e6da-484e-a814-9c849652bcb3&amp;skt=2025-04-13T08%3A22%3A28Z&amp;ske=2025-04-14T08%3A22%3A28Z&amp;sks=b&amp;skv=2024-08-04&amp;sig=Pzpxm1HthXnWGNTnvyBP8WZ80zL68XyoAeJ2iOp4Js4%3D"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Jaden Mericle</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algn="l">
              <a:buNone/>
            </a:pPr>
            <a:r>
              <a:rPr lang="en-US" sz="1600" b="1" i="0" u="none" strike="noStrike" dirty="0">
                <a:solidFill>
                  <a:srgbClr val="000000"/>
                </a:solidFill>
                <a:effectLst/>
              </a:rPr>
              <a:t>Functional Requirements:</a:t>
            </a:r>
            <a:endParaRPr lang="en-US" sz="1600" b="0" i="0" u="none" strike="noStrike" dirty="0">
              <a:solidFill>
                <a:srgbClr val="000000"/>
              </a:solidFill>
              <a:effectLst/>
            </a:endParaRPr>
          </a:p>
          <a:p>
            <a:pPr algn="l">
              <a:buFont typeface="Arial" panose="020B0604020202020204" pitchFamily="34" charset="0"/>
              <a:buChar char="•"/>
            </a:pPr>
            <a:r>
              <a:rPr lang="en-US" sz="1600" b="0" i="0" u="none" strike="noStrike" dirty="0">
                <a:solidFill>
                  <a:srgbClr val="000000"/>
                </a:solidFill>
                <a:effectLst/>
              </a:rPr>
              <a:t>Students must be able to register for driving courses and schedule lessons.</a:t>
            </a:r>
          </a:p>
          <a:p>
            <a:pPr algn="l">
              <a:buFont typeface="Arial" panose="020B0604020202020204" pitchFamily="34" charset="0"/>
              <a:buChar char="•"/>
            </a:pPr>
            <a:r>
              <a:rPr lang="en-US" sz="1600" b="0" i="0" u="none" strike="noStrike" dirty="0">
                <a:solidFill>
                  <a:srgbClr val="000000"/>
                </a:solidFill>
                <a:effectLst/>
              </a:rPr>
              <a:t>Instructors must be able to manage their schedules and update lesson availability.</a:t>
            </a:r>
          </a:p>
          <a:p>
            <a:pPr algn="l">
              <a:buNone/>
            </a:pPr>
            <a:r>
              <a:rPr lang="en-US" sz="1600" b="1" i="0" u="none" strike="noStrike" dirty="0">
                <a:solidFill>
                  <a:srgbClr val="000000"/>
                </a:solidFill>
                <a:effectLst/>
              </a:rPr>
              <a:t>Nonfunctional Requirements:</a:t>
            </a:r>
            <a:endParaRPr lang="en-US" sz="1600" b="0" i="0" u="none" strike="noStrike" dirty="0">
              <a:solidFill>
                <a:srgbClr val="000000"/>
              </a:solidFill>
              <a:effectLst/>
            </a:endParaRPr>
          </a:p>
          <a:p>
            <a:pPr algn="l">
              <a:buFont typeface="Arial" panose="020B0604020202020204" pitchFamily="34" charset="0"/>
              <a:buChar char="•"/>
            </a:pPr>
            <a:r>
              <a:rPr lang="en-US" sz="1600" b="0" i="0" u="none" strike="noStrike" dirty="0">
                <a:solidFill>
                  <a:srgbClr val="000000"/>
                </a:solidFill>
                <a:effectLst/>
              </a:rPr>
              <a:t>The system should be accessible online at all times (high availability).</a:t>
            </a:r>
          </a:p>
          <a:p>
            <a:pPr algn="l">
              <a:buFont typeface="Arial" panose="020B0604020202020204" pitchFamily="34" charset="0"/>
              <a:buChar char="•"/>
            </a:pPr>
            <a:r>
              <a:rPr lang="en-US" sz="1600" b="0" i="0" u="none" strike="noStrike" dirty="0">
                <a:solidFill>
                  <a:srgbClr val="000000"/>
                </a:solidFill>
                <a:effectLst/>
              </a:rPr>
              <a:t>User data must be stored securely and follow privacy best practices.</a:t>
            </a:r>
          </a:p>
          <a:p>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4" name="Rectangle 2">
            <a:extLst>
              <a:ext uri="{FF2B5EF4-FFF2-40B4-BE49-F238E27FC236}">
                <a16:creationId xmlns:a16="http://schemas.microsoft.com/office/drawing/2014/main" id="{4D797A91-1D92-B9A8-3E14-FD63718889E8}"/>
              </a:ext>
            </a:extLst>
          </p:cNvPr>
          <p:cNvSpPr>
            <a:spLocks noChangeArrowheads="1"/>
          </p:cNvSpPr>
          <p:nvPr/>
        </p:nvSpPr>
        <p:spPr bwMode="auto">
          <a:xfrm>
            <a:off x="637497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2" descr="A diagram of a check balance&#10;&#10;AI-generated content may be incorrect.">
            <a:extLst>
              <a:ext uri="{FF2B5EF4-FFF2-40B4-BE49-F238E27FC236}">
                <a16:creationId xmlns:a16="http://schemas.microsoft.com/office/drawing/2014/main" id="{9B6FB6C5-4C4C-4FA5-A8F8-325886BE99B6}"/>
              </a:ext>
            </a:extLst>
          </p:cNvPr>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6839477" y="0"/>
            <a:ext cx="4595156" cy="689273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endParaRPr sz="2400" dirty="0">
              <a:solidFill>
                <a:srgbClr val="000000"/>
              </a:solidFill>
            </a:endParaRPr>
          </a:p>
        </p:txBody>
      </p:sp>
      <p:pic>
        <p:nvPicPr>
          <p:cNvPr id="4" name="Picture 3" descr="A diagram of a student login&#10;&#10;AI-generated content may be incorrect.">
            <a:extLst>
              <a:ext uri="{FF2B5EF4-FFF2-40B4-BE49-F238E27FC236}">
                <a16:creationId xmlns:a16="http://schemas.microsoft.com/office/drawing/2014/main" id="{D6AF2020-1B19-0947-289C-DFAAC85CE5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9891" y="55245"/>
            <a:ext cx="2639695" cy="6802755"/>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algn="l">
              <a:buNone/>
            </a:pPr>
            <a:r>
              <a:rPr lang="en-US" sz="1600" b="1" i="0" u="none" strike="noStrike" dirty="0">
                <a:solidFill>
                  <a:srgbClr val="000000"/>
                </a:solidFill>
                <a:effectLst/>
              </a:rPr>
              <a:t>Security Measures:</a:t>
            </a:r>
            <a:endParaRPr lang="en-US" sz="1600" b="0" i="0" u="none" strike="noStrike" dirty="0">
              <a:solidFill>
                <a:srgbClr val="000000"/>
              </a:solidFill>
              <a:effectLst/>
            </a:endParaRPr>
          </a:p>
          <a:p>
            <a:pPr algn="l">
              <a:buFont typeface="Arial" panose="020B0604020202020204" pitchFamily="34" charset="0"/>
              <a:buChar char="•"/>
            </a:pPr>
            <a:r>
              <a:rPr lang="en-US" sz="1600" b="0" i="0" u="none" strike="noStrike" dirty="0">
                <a:solidFill>
                  <a:srgbClr val="000000"/>
                </a:solidFill>
                <a:effectLst/>
              </a:rPr>
              <a:t>Encrypted storage of passwords and personal data.</a:t>
            </a:r>
          </a:p>
          <a:p>
            <a:pPr algn="l">
              <a:buFont typeface="Arial" panose="020B0604020202020204" pitchFamily="34" charset="0"/>
              <a:buChar char="•"/>
            </a:pPr>
            <a:r>
              <a:rPr lang="en-US" sz="1600" b="0" i="0" u="none" strike="noStrike" dirty="0">
                <a:solidFill>
                  <a:srgbClr val="000000"/>
                </a:solidFill>
                <a:effectLst/>
              </a:rPr>
              <a:t>Role-based access to restrict data visibility.</a:t>
            </a:r>
          </a:p>
          <a:p>
            <a:pPr algn="l">
              <a:buFont typeface="Arial" panose="020B0604020202020204" pitchFamily="34" charset="0"/>
              <a:buChar char="•"/>
            </a:pPr>
            <a:r>
              <a:rPr lang="en-US" sz="1600" b="0" i="0" u="none" strike="noStrike" dirty="0">
                <a:solidFill>
                  <a:srgbClr val="000000"/>
                </a:solidFill>
                <a:effectLst/>
              </a:rPr>
              <a:t>Secure payment processing via a trusted third-party gateway.</a:t>
            </a:r>
          </a:p>
          <a:p>
            <a:pPr algn="l">
              <a:buFont typeface="Arial" panose="020B0604020202020204" pitchFamily="34" charset="0"/>
              <a:buChar char="•"/>
            </a:pPr>
            <a:r>
              <a:rPr lang="en-US" sz="1600" b="0" i="0" u="none" strike="noStrike" dirty="0">
                <a:solidFill>
                  <a:srgbClr val="000000"/>
                </a:solidFill>
                <a:effectLst/>
              </a:rPr>
              <a:t>Regular system updates and vulnerability scans.</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algn="l">
              <a:buNone/>
            </a:pPr>
            <a:r>
              <a:rPr lang="en-US" sz="1600" b="1" i="0" u="none" strike="noStrike" dirty="0">
                <a:solidFill>
                  <a:srgbClr val="000000"/>
                </a:solidFill>
                <a:effectLst/>
              </a:rPr>
              <a:t>Limitations:</a:t>
            </a:r>
            <a:endParaRPr lang="en-US" sz="1600" b="0" i="0" u="none" strike="noStrike" dirty="0">
              <a:solidFill>
                <a:srgbClr val="000000"/>
              </a:solidFill>
              <a:effectLst/>
            </a:endParaRPr>
          </a:p>
          <a:p>
            <a:pPr algn="l">
              <a:buFont typeface="Arial" panose="020B0604020202020204" pitchFamily="34" charset="0"/>
              <a:buChar char="•"/>
            </a:pPr>
            <a:r>
              <a:rPr lang="en-US" sz="1600" b="0" i="0" u="none" strike="noStrike" dirty="0">
                <a:solidFill>
                  <a:srgbClr val="000000"/>
                </a:solidFill>
                <a:effectLst/>
              </a:rPr>
              <a:t>The system does not currently support offline access.</a:t>
            </a:r>
          </a:p>
          <a:p>
            <a:pPr algn="l">
              <a:buFont typeface="Arial" panose="020B0604020202020204" pitchFamily="34" charset="0"/>
              <a:buChar char="•"/>
            </a:pPr>
            <a:r>
              <a:rPr lang="en-US" sz="1600" b="0" i="0" u="none" strike="noStrike" dirty="0">
                <a:solidFill>
                  <a:srgbClr val="000000"/>
                </a:solidFill>
                <a:effectLst/>
              </a:rPr>
              <a:t>Limited support for multiple languages at launch.</a:t>
            </a:r>
          </a:p>
          <a:p>
            <a:pPr algn="l">
              <a:buFont typeface="Arial" panose="020B0604020202020204" pitchFamily="34" charset="0"/>
              <a:buChar char="•"/>
            </a:pPr>
            <a:r>
              <a:rPr lang="en-US" sz="1600" b="0" i="0" u="none" strike="noStrike" dirty="0">
                <a:solidFill>
                  <a:srgbClr val="000000"/>
                </a:solidFill>
                <a:effectLst/>
              </a:rPr>
              <a:t>Instructor availability is dependent on manual input.</a:t>
            </a:r>
          </a:p>
          <a:p>
            <a:pPr algn="l">
              <a:buFont typeface="Arial" panose="020B0604020202020204" pitchFamily="34" charset="0"/>
              <a:buChar char="•"/>
            </a:pPr>
            <a:r>
              <a:rPr lang="en-US" sz="1600" b="0" i="0" u="none" strike="noStrike" dirty="0">
                <a:solidFill>
                  <a:srgbClr val="000000"/>
                </a:solidFill>
                <a:effectLst/>
              </a:rPr>
              <a:t>No mobile app version in the initial release.</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1411</TotalTime>
  <Words>502</Words>
  <Application>Microsoft Macintosh PowerPoint</Application>
  <PresentationFormat>Widescreen</PresentationFormat>
  <Paragraphs>35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jaden mericle</cp:lastModifiedBy>
  <cp:revision>22</cp:revision>
  <dcterms:created xsi:type="dcterms:W3CDTF">2019-10-14T02:36:52Z</dcterms:created>
  <dcterms:modified xsi:type="dcterms:W3CDTF">2025-04-21T01:51:20Z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